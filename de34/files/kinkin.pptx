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72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05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a53dcae526_1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1a53dcae526_1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a53dcae526_1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g1a53dcae526_1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 1">
  <p:cSld name="カスタム レイアウト 1 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225" tIns="142225" rIns="142225" bIns="142225" anchor="t" anchorCtr="0">
            <a:noAutofit/>
          </a:bodyPr>
          <a:lstStyle>
            <a:lvl1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29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72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 × AI 冷蔵庫収納プラットフォーム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FreshBox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7ED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冷蔵庫の“見える化”で、家庭の食品ロスをなくす。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B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収納ケース（モノ）× 食品管理アプリ（サービス）で実現する、継続利用型の新しい台所体験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/home/claude/pptx_project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527951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44752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69080" y="51663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pptx_project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237" y="52795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無料食品管理アプリ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0" y="51663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/home/claude/pptx_project/icons/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357" y="527951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36992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食品ロス削減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2296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3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大学ビジネスプラン提案資料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「モノ」と「コト」を組み合わせて解決する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QRコード付き収納ケースを“入口”に、無料アプリで食品管理を継続してもらう仕組み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2920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43000" y="237744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pptx_project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5831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4505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モノ：QR収納ケース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03120" y="2907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販売して収益化する“入口商品”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143000" y="3483864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417320" y="33375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容器にQRコードを貼付した状態で販売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143000" y="4050792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1417320" y="390448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アプリと1タップで連携登録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43000" y="461772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417320" y="447141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冷蔵庫内の収納場所を“見える化”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2057400"/>
            <a:ext cx="5212080" cy="3794760"/>
          </a:xfrm>
          <a:prstGeom prst="roundRect">
            <a:avLst>
              <a:gd name="adj" fmla="val 3373"/>
            </a:avLst>
          </a:prstGeom>
          <a:solidFill>
            <a:srgbClr val="1B4332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6446520" y="237744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1" descr="/home/claude/pptx_project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25831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4505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コト：食品管理アプリ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7406640" y="2907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EE0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継続利用を生む“無料サービス”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46520" y="3483864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6720840" y="333756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AIによる賞味・消費期限管理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46520" y="3968496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0"/>
          <p:cNvSpPr/>
          <p:nvPr/>
        </p:nvSpPr>
        <p:spPr>
          <a:xfrm>
            <a:off x="6720840" y="3822192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AIレシピ提案で食材を使い切る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46520" y="4453128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2"/>
          <p:cNvSpPr/>
          <p:nvPr/>
        </p:nvSpPr>
        <p:spPr>
          <a:xfrm>
            <a:off x="6720840" y="4306824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レシート/手入力で在庫を一元管理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46520" y="4937760"/>
            <a:ext cx="109728" cy="109728"/>
          </a:xfrm>
          <a:prstGeom prst="ellipse">
            <a:avLst/>
          </a:prstGeom>
          <a:solidFill>
            <a:srgbClr val="8FD6A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4"/>
          <p:cNvSpPr/>
          <p:nvPr/>
        </p:nvSpPr>
        <p:spPr>
          <a:xfrm>
            <a:off x="6720840" y="479145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企業クーポンをアプリで一括配信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" name="Google Shape;430;p24">
            <a:extLst>
              <a:ext uri="{FF2B5EF4-FFF2-40B4-BE49-F238E27FC236}">
                <a16:creationId xmlns:a16="http://schemas.microsoft.com/office/drawing/2014/main" id="{53D2E58F-2405-E23A-45BE-BDA9C42574A9}"/>
              </a:ext>
            </a:extLst>
          </p:cNvPr>
          <p:cNvCxnSpPr>
            <a:cxnSpLocks/>
          </p:cNvCxnSpPr>
          <p:nvPr/>
        </p:nvCxnSpPr>
        <p:spPr>
          <a:xfrm>
            <a:off x="6568478" y="5804463"/>
            <a:ext cx="909528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432" name="Google Shape;432;p24"/>
          <p:cNvSpPr txBox="1"/>
          <p:nvPr/>
        </p:nvSpPr>
        <p:spPr>
          <a:xfrm>
            <a:off x="6761025" y="5243135"/>
            <a:ext cx="571200" cy="189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広告費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93;p24">
            <a:extLst>
              <a:ext uri="{FF2B5EF4-FFF2-40B4-BE49-F238E27FC236}">
                <a16:creationId xmlns:a16="http://schemas.microsoft.com/office/drawing/2014/main" id="{517A05CE-9610-AE12-989F-D02F1D69B606}"/>
              </a:ext>
            </a:extLst>
          </p:cNvPr>
          <p:cNvSpPr txBox="1"/>
          <p:nvPr/>
        </p:nvSpPr>
        <p:spPr>
          <a:xfrm>
            <a:off x="5280421" y="4149667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アプリ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6367118" y="4746360"/>
            <a:ext cx="402720" cy="16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売上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6685146" y="4723752"/>
            <a:ext cx="793017" cy="3738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広告の配信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458;p24">
            <a:extLst>
              <a:ext uri="{FF2B5EF4-FFF2-40B4-BE49-F238E27FC236}">
                <a16:creationId xmlns:a16="http://schemas.microsoft.com/office/drawing/2014/main" id="{AAF91149-2A61-11E7-D0D6-16766EC9C1E0}"/>
              </a:ext>
            </a:extLst>
          </p:cNvPr>
          <p:cNvSpPr txBox="1"/>
          <p:nvPr/>
        </p:nvSpPr>
        <p:spPr>
          <a:xfrm>
            <a:off x="6160676" y="2688662"/>
            <a:ext cx="557444" cy="1677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会員費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407;p24">
            <a:extLst>
              <a:ext uri="{FF2B5EF4-FFF2-40B4-BE49-F238E27FC236}">
                <a16:creationId xmlns:a16="http://schemas.microsoft.com/office/drawing/2014/main" id="{DE8EFEC5-701A-EB8E-CA21-09F07343B2F8}"/>
              </a:ext>
            </a:extLst>
          </p:cNvPr>
          <p:cNvCxnSpPr>
            <a:cxnSpLocks/>
          </p:cNvCxnSpPr>
          <p:nvPr/>
        </p:nvCxnSpPr>
        <p:spPr>
          <a:xfrm flipV="1">
            <a:off x="5179918" y="1624898"/>
            <a:ext cx="432358" cy="979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ot"/>
            <a:miter lim="400000"/>
            <a:headEnd type="none" w="sm" len="sm"/>
            <a:tailEnd type="stealth" w="med" len="med"/>
          </a:ln>
        </p:spPr>
      </p:cxnSp>
      <p:sp>
        <p:nvSpPr>
          <p:cNvPr id="326" name="Google Shape;100;p21">
            <a:extLst>
              <a:ext uri="{FF2B5EF4-FFF2-40B4-BE49-F238E27FC236}">
                <a16:creationId xmlns:a16="http://schemas.microsoft.com/office/drawing/2014/main" id="{87907C9C-CFC6-4453-0687-324B0406B5B2}"/>
              </a:ext>
            </a:extLst>
          </p:cNvPr>
          <p:cNvSpPr/>
          <p:nvPr/>
        </p:nvSpPr>
        <p:spPr>
          <a:xfrm>
            <a:off x="4516356" y="354192"/>
            <a:ext cx="1299500" cy="694404"/>
          </a:xfrm>
          <a:prstGeom prst="wedgeRoundRectCallout">
            <a:avLst>
              <a:gd name="adj1" fmla="val 3254"/>
              <a:gd name="adj2" fmla="val 95585"/>
              <a:gd name="adj3" fmla="val 0"/>
            </a:avLst>
          </a:prstGeom>
          <a:solidFill>
            <a:srgbClr val="DDDDDD"/>
          </a:solidFill>
          <a:ln>
            <a:noFill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407;p24">
            <a:extLst>
              <a:ext uri="{FF2B5EF4-FFF2-40B4-BE49-F238E27FC236}">
                <a16:creationId xmlns:a16="http://schemas.microsoft.com/office/drawing/2014/main" id="{FDC61F67-1C35-3C2A-0C2C-0252DA8D4A80}"/>
              </a:ext>
            </a:extLst>
          </p:cNvPr>
          <p:cNvCxnSpPr>
            <a:cxnSpLocks/>
          </p:cNvCxnSpPr>
          <p:nvPr/>
        </p:nvCxnSpPr>
        <p:spPr>
          <a:xfrm flipH="1" flipV="1">
            <a:off x="4678643" y="1626287"/>
            <a:ext cx="804614" cy="8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ot"/>
            <a:miter lim="400000"/>
            <a:headEnd type="none" w="sm" len="sm"/>
            <a:tailEnd type="stealth" w="med" len="med"/>
          </a:ln>
        </p:spPr>
      </p:cxnSp>
      <p:cxnSp>
        <p:nvCxnSpPr>
          <p:cNvPr id="49" name="Google Shape;430;p24">
            <a:extLst>
              <a:ext uri="{FF2B5EF4-FFF2-40B4-BE49-F238E27FC236}">
                <a16:creationId xmlns:a16="http://schemas.microsoft.com/office/drawing/2014/main" id="{918A3D90-4905-E033-9022-50DB607BB1EE}"/>
              </a:ext>
            </a:extLst>
          </p:cNvPr>
          <p:cNvCxnSpPr>
            <a:cxnSpLocks/>
          </p:cNvCxnSpPr>
          <p:nvPr/>
        </p:nvCxnSpPr>
        <p:spPr>
          <a:xfrm>
            <a:off x="6843448" y="4351641"/>
            <a:ext cx="713031" cy="61919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33" name="Google Shape;200;p22">
            <a:extLst>
              <a:ext uri="{FF2B5EF4-FFF2-40B4-BE49-F238E27FC236}">
                <a16:creationId xmlns:a16="http://schemas.microsoft.com/office/drawing/2014/main" id="{DA3E275B-70CB-CD33-4397-9208DA9C8186}"/>
              </a:ext>
            </a:extLst>
          </p:cNvPr>
          <p:cNvCxnSpPr>
            <a:cxnSpLocks/>
          </p:cNvCxnSpPr>
          <p:nvPr/>
        </p:nvCxnSpPr>
        <p:spPr>
          <a:xfrm flipH="1">
            <a:off x="4233814" y="4427313"/>
            <a:ext cx="6422" cy="62196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374" name="Google Shape;374;p24"/>
          <p:cNvCxnSpPr/>
          <p:nvPr/>
        </p:nvCxnSpPr>
        <p:spPr>
          <a:xfrm>
            <a:off x="591627" y="4707482"/>
            <a:ext cx="11000640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375" name="Google Shape;375;p24"/>
          <p:cNvCxnSpPr/>
          <p:nvPr/>
        </p:nvCxnSpPr>
        <p:spPr>
          <a:xfrm>
            <a:off x="624720" y="2638638"/>
            <a:ext cx="11000640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miter lim="400000"/>
            <a:headEnd type="none" w="sm" len="sm"/>
            <a:tailEnd type="none" w="sm" len="sm"/>
          </a:ln>
        </p:spPr>
      </p:cxnSp>
      <p:grpSp>
        <p:nvGrpSpPr>
          <p:cNvPr id="377" name="Google Shape;377;p24"/>
          <p:cNvGrpSpPr/>
          <p:nvPr/>
        </p:nvGrpSpPr>
        <p:grpSpPr>
          <a:xfrm>
            <a:off x="5815827" y="5255993"/>
            <a:ext cx="552240" cy="1016004"/>
            <a:chOff x="2956672" y="1384595"/>
            <a:chExt cx="690300" cy="1270005"/>
          </a:xfrm>
        </p:grpSpPr>
        <p:sp>
          <p:nvSpPr>
            <p:cNvPr id="378" name="Google Shape;378;p24"/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6" name="Google Shape;386;p24"/>
          <p:cNvCxnSpPr>
            <a:cxnSpLocks/>
          </p:cNvCxnSpPr>
          <p:nvPr/>
        </p:nvCxnSpPr>
        <p:spPr>
          <a:xfrm>
            <a:off x="4785702" y="3587143"/>
            <a:ext cx="760806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oval" w="lg" len="lg"/>
          </a:ln>
        </p:spPr>
      </p:cxnSp>
      <p:grpSp>
        <p:nvGrpSpPr>
          <p:cNvPr id="390" name="Google Shape;390;p24"/>
          <p:cNvGrpSpPr/>
          <p:nvPr/>
        </p:nvGrpSpPr>
        <p:grpSpPr>
          <a:xfrm>
            <a:off x="5822076" y="1030604"/>
            <a:ext cx="552289" cy="1022489"/>
            <a:chOff x="-1" y="0"/>
            <a:chExt cx="946737" cy="1704148"/>
          </a:xfrm>
        </p:grpSpPr>
        <p:sp>
          <p:nvSpPr>
            <p:cNvPr id="391" name="Google Shape;391;p24"/>
            <p:cNvSpPr/>
            <p:nvPr/>
          </p:nvSpPr>
          <p:spPr>
            <a:xfrm>
              <a:off x="-1" y="707200"/>
              <a:ext cx="946737" cy="996948"/>
            </a:xfrm>
            <a:custGeom>
              <a:avLst/>
              <a:gdLst/>
              <a:ahLst/>
              <a:cxnLst/>
              <a:rect l="l" t="t" r="r" b="b"/>
              <a:pathLst>
                <a:path w="19735" h="21600" extrusionOk="0">
                  <a:moveTo>
                    <a:pt x="41" y="21600"/>
                  </a:moveTo>
                  <a:lnTo>
                    <a:pt x="19726" y="21600"/>
                  </a:lnTo>
                  <a:cubicBezTo>
                    <a:pt x="19726" y="21600"/>
                    <a:pt x="20425" y="0"/>
                    <a:pt x="9625" y="0"/>
                  </a:cubicBezTo>
                  <a:cubicBezTo>
                    <a:pt x="-1175" y="0"/>
                    <a:pt x="41" y="21600"/>
                    <a:pt x="41" y="21600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38013" y="0"/>
              <a:ext cx="855900" cy="854700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24"/>
          <p:cNvSpPr txBox="1"/>
          <p:nvPr/>
        </p:nvSpPr>
        <p:spPr>
          <a:xfrm>
            <a:off x="5347054" y="2075690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ユーザー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3419649" y="4107259"/>
            <a:ext cx="1602918" cy="30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冷蔵庫収納品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7338025" y="6562483"/>
            <a:ext cx="1473776" cy="16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データ分析企業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10517928" y="1628711"/>
            <a:ext cx="92688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r>
              <a:rPr lang="ja" altLang="en-US" sz="152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利用者</a:t>
            </a:r>
            <a:endParaRPr sz="152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10517928" y="3636009"/>
            <a:ext cx="92688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r>
              <a:rPr lang="ja" altLang="en-US" sz="152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事業</a:t>
            </a:r>
            <a:endParaRPr sz="152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10517928" y="5762914"/>
            <a:ext cx="92688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r>
              <a:rPr lang="ja" altLang="en-US" sz="152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事業者</a:t>
            </a:r>
            <a:endParaRPr sz="152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24"/>
          <p:cNvCxnSpPr/>
          <p:nvPr/>
        </p:nvCxnSpPr>
        <p:spPr>
          <a:xfrm>
            <a:off x="5987738" y="2410442"/>
            <a:ext cx="0" cy="64824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ot"/>
            <a:miter lim="400000"/>
            <a:headEnd type="none" w="sm" len="sm"/>
            <a:tailEnd type="stealth" w="med" len="med"/>
          </a:ln>
        </p:spPr>
      </p:cxnSp>
      <p:sp>
        <p:nvSpPr>
          <p:cNvPr id="408" name="Google Shape;408;p24"/>
          <p:cNvSpPr txBox="1"/>
          <p:nvPr/>
        </p:nvSpPr>
        <p:spPr>
          <a:xfrm>
            <a:off x="609600" y="0"/>
            <a:ext cx="10972800" cy="76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 algn="ctr">
              <a:buClr>
                <a:srgbClr val="000000"/>
              </a:buClr>
              <a:buSzPts val="3000"/>
            </a:pPr>
            <a:endParaRPr sz="2400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7750016" y="5255993"/>
            <a:ext cx="552240" cy="1016004"/>
            <a:chOff x="2956672" y="1384595"/>
            <a:chExt cx="690300" cy="1270005"/>
          </a:xfrm>
        </p:grpSpPr>
        <p:sp>
          <p:nvSpPr>
            <p:cNvPr id="421" name="Google Shape;421;p24"/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24"/>
          <p:cNvSpPr txBox="1"/>
          <p:nvPr/>
        </p:nvSpPr>
        <p:spPr>
          <a:xfrm>
            <a:off x="7098592" y="6336887"/>
            <a:ext cx="18571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" altLang="en-US" sz="144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広告主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24"/>
          <p:cNvCxnSpPr/>
          <p:nvPr/>
        </p:nvCxnSpPr>
        <p:spPr>
          <a:xfrm>
            <a:off x="6547825" y="5524206"/>
            <a:ext cx="1009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431" name="Google Shape;431;p24"/>
          <p:cNvSpPr/>
          <p:nvPr/>
        </p:nvSpPr>
        <p:spPr>
          <a:xfrm>
            <a:off x="6964798" y="5418078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5880938" y="2577802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24"/>
          <p:cNvCxnSpPr>
            <a:cxnSpLocks/>
          </p:cNvCxnSpPr>
          <p:nvPr/>
        </p:nvCxnSpPr>
        <p:spPr>
          <a:xfrm flipV="1">
            <a:off x="4647824" y="2352749"/>
            <a:ext cx="635894" cy="606063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stealth" w="med" len="med"/>
          </a:ln>
        </p:spPr>
      </p:cxnSp>
      <p:cxnSp>
        <p:nvCxnSpPr>
          <p:cNvPr id="459" name="Google Shape;459;p24"/>
          <p:cNvCxnSpPr/>
          <p:nvPr/>
        </p:nvCxnSpPr>
        <p:spPr>
          <a:xfrm rot="10800000">
            <a:off x="6231896" y="4461520"/>
            <a:ext cx="0" cy="729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sm" len="sm"/>
            <a:tailEnd type="none" w="sm" len="sm"/>
          </a:ln>
        </p:spPr>
      </p:cxnSp>
      <p:sp>
        <p:nvSpPr>
          <p:cNvPr id="460" name="Google Shape;460;p24"/>
          <p:cNvSpPr/>
          <p:nvPr/>
        </p:nvSpPr>
        <p:spPr>
          <a:xfrm>
            <a:off x="6125040" y="4730080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24"/>
          <p:cNvCxnSpPr/>
          <p:nvPr/>
        </p:nvCxnSpPr>
        <p:spPr>
          <a:xfrm>
            <a:off x="595740" y="762000"/>
            <a:ext cx="11000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" name="Google Shape;178;p22">
            <a:extLst>
              <a:ext uri="{FF2B5EF4-FFF2-40B4-BE49-F238E27FC236}">
                <a16:creationId xmlns:a16="http://schemas.microsoft.com/office/drawing/2014/main" id="{A3ACDDEF-07C6-F84C-BD01-2FF3FE46F6C2}"/>
              </a:ext>
            </a:extLst>
          </p:cNvPr>
          <p:cNvSpPr/>
          <p:nvPr/>
        </p:nvSpPr>
        <p:spPr>
          <a:xfrm>
            <a:off x="3995375" y="3367452"/>
            <a:ext cx="489720" cy="482181"/>
          </a:xfrm>
          <a:prstGeom prst="ellipse">
            <a:avLst/>
          </a:prstGeom>
          <a:solidFill>
            <a:srgbClr val="D4FCA9"/>
          </a:solidFill>
          <a:ln w="381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3400"/>
            </a:pPr>
            <a:endParaRPr sz="27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51;p22">
            <a:extLst>
              <a:ext uri="{FF2B5EF4-FFF2-40B4-BE49-F238E27FC236}">
                <a16:creationId xmlns:a16="http://schemas.microsoft.com/office/drawing/2014/main" id="{1F66A556-2F9E-1138-E9FF-9892F4859739}"/>
              </a:ext>
            </a:extLst>
          </p:cNvPr>
          <p:cNvSpPr/>
          <p:nvPr/>
        </p:nvSpPr>
        <p:spPr>
          <a:xfrm>
            <a:off x="3964115" y="3081931"/>
            <a:ext cx="552240" cy="1011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lnSpc>
                <a:spcPct val="50000"/>
              </a:lnSpc>
              <a:buClr>
                <a:srgbClr val="000000"/>
              </a:buClr>
              <a:buSzPts val="3400"/>
            </a:pPr>
            <a:endParaRPr sz="27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164;p22">
            <a:extLst>
              <a:ext uri="{FF2B5EF4-FFF2-40B4-BE49-F238E27FC236}">
                <a16:creationId xmlns:a16="http://schemas.microsoft.com/office/drawing/2014/main" id="{870D88AF-2AA9-42F2-0C72-E7C33A8BBF84}"/>
              </a:ext>
            </a:extLst>
          </p:cNvPr>
          <p:cNvGrpSpPr/>
          <p:nvPr/>
        </p:nvGrpSpPr>
        <p:grpSpPr>
          <a:xfrm>
            <a:off x="5857519" y="3099038"/>
            <a:ext cx="542422" cy="1011968"/>
            <a:chOff x="6491001" y="3918898"/>
            <a:chExt cx="685500" cy="1278900"/>
          </a:xfrm>
        </p:grpSpPr>
        <p:sp>
          <p:nvSpPr>
            <p:cNvPr id="8" name="Google Shape;165;p22">
              <a:extLst>
                <a:ext uri="{FF2B5EF4-FFF2-40B4-BE49-F238E27FC236}">
                  <a16:creationId xmlns:a16="http://schemas.microsoft.com/office/drawing/2014/main" id="{477413B5-7A66-CE27-579E-FA7FEA13A064}"/>
                </a:ext>
              </a:extLst>
            </p:cNvPr>
            <p:cNvSpPr/>
            <p:nvPr/>
          </p:nvSpPr>
          <p:spPr>
            <a:xfrm>
              <a:off x="6491001" y="3918898"/>
              <a:ext cx="685500" cy="1278900"/>
            </a:xfrm>
            <a:prstGeom prst="roundRect">
              <a:avLst>
                <a:gd name="adj" fmla="val 84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66;p22">
              <a:extLst>
                <a:ext uri="{FF2B5EF4-FFF2-40B4-BE49-F238E27FC236}">
                  <a16:creationId xmlns:a16="http://schemas.microsoft.com/office/drawing/2014/main" id="{C96388CC-B0EA-1762-64F6-F69516F7AD7D}"/>
                </a:ext>
              </a:extLst>
            </p:cNvPr>
            <p:cNvSpPr/>
            <p:nvPr/>
          </p:nvSpPr>
          <p:spPr>
            <a:xfrm>
              <a:off x="6569453" y="4014344"/>
              <a:ext cx="539100" cy="924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7;p22">
              <a:extLst>
                <a:ext uri="{FF2B5EF4-FFF2-40B4-BE49-F238E27FC236}">
                  <a16:creationId xmlns:a16="http://schemas.microsoft.com/office/drawing/2014/main" id="{D6EB9472-3F63-BAEC-4D41-C8DFF1FF94B4}"/>
                </a:ext>
              </a:extLst>
            </p:cNvPr>
            <p:cNvSpPr/>
            <p:nvPr/>
          </p:nvSpPr>
          <p:spPr>
            <a:xfrm>
              <a:off x="6771922" y="4993039"/>
              <a:ext cx="135300" cy="139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227;p22">
            <a:extLst>
              <a:ext uri="{FF2B5EF4-FFF2-40B4-BE49-F238E27FC236}">
                <a16:creationId xmlns:a16="http://schemas.microsoft.com/office/drawing/2014/main" id="{8EAF19A6-3A9B-230D-11B9-DD03C81C6DC8}"/>
              </a:ext>
            </a:extLst>
          </p:cNvPr>
          <p:cNvGrpSpPr/>
          <p:nvPr/>
        </p:nvGrpSpPr>
        <p:grpSpPr>
          <a:xfrm>
            <a:off x="3942334" y="5221468"/>
            <a:ext cx="552240" cy="1016004"/>
            <a:chOff x="2956672" y="1384595"/>
            <a:chExt cx="690300" cy="1270005"/>
          </a:xfrm>
        </p:grpSpPr>
        <p:sp>
          <p:nvSpPr>
            <p:cNvPr id="18" name="Google Shape;228;p22">
              <a:extLst>
                <a:ext uri="{FF2B5EF4-FFF2-40B4-BE49-F238E27FC236}">
                  <a16:creationId xmlns:a16="http://schemas.microsoft.com/office/drawing/2014/main" id="{EB4AA7DF-D473-B070-742B-1FF8A89D266E}"/>
                </a:ext>
              </a:extLst>
            </p:cNvPr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29;p22">
              <a:extLst>
                <a:ext uri="{FF2B5EF4-FFF2-40B4-BE49-F238E27FC236}">
                  <a16:creationId xmlns:a16="http://schemas.microsoft.com/office/drawing/2014/main" id="{E2628713-7863-1018-C543-95F187E5AB2F}"/>
                </a:ext>
              </a:extLst>
            </p:cNvPr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30;p22">
              <a:extLst>
                <a:ext uri="{FF2B5EF4-FFF2-40B4-BE49-F238E27FC236}">
                  <a16:creationId xmlns:a16="http://schemas.microsoft.com/office/drawing/2014/main" id="{0FBEDAEA-ED08-5022-7F08-54087E381560}"/>
                </a:ext>
              </a:extLst>
            </p:cNvPr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31;p22">
              <a:extLst>
                <a:ext uri="{FF2B5EF4-FFF2-40B4-BE49-F238E27FC236}">
                  <a16:creationId xmlns:a16="http://schemas.microsoft.com/office/drawing/2014/main" id="{BA559E29-AB99-F4B7-D918-B643D21B62FE}"/>
                </a:ext>
              </a:extLst>
            </p:cNvPr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32;p22">
              <a:extLst>
                <a:ext uri="{FF2B5EF4-FFF2-40B4-BE49-F238E27FC236}">
                  <a16:creationId xmlns:a16="http://schemas.microsoft.com/office/drawing/2014/main" id="{6AD95966-8614-9AC6-BE50-56C73ED51188}"/>
                </a:ext>
              </a:extLst>
            </p:cNvPr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3;p22">
              <a:extLst>
                <a:ext uri="{FF2B5EF4-FFF2-40B4-BE49-F238E27FC236}">
                  <a16:creationId xmlns:a16="http://schemas.microsoft.com/office/drawing/2014/main" id="{04754B14-15D6-2C8F-1545-0FA2671F1929}"/>
                </a:ext>
              </a:extLst>
            </p:cNvPr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34;p22">
              <a:extLst>
                <a:ext uri="{FF2B5EF4-FFF2-40B4-BE49-F238E27FC236}">
                  <a16:creationId xmlns:a16="http://schemas.microsoft.com/office/drawing/2014/main" id="{CCB69CB6-54CE-9D10-08BA-D7F86F50FBBA}"/>
                </a:ext>
              </a:extLst>
            </p:cNvPr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35;p22">
              <a:extLst>
                <a:ext uri="{FF2B5EF4-FFF2-40B4-BE49-F238E27FC236}">
                  <a16:creationId xmlns:a16="http://schemas.microsoft.com/office/drawing/2014/main" id="{7948A19D-BDF2-2CD7-3F68-21777183A19C}"/>
                </a:ext>
              </a:extLst>
            </p:cNvPr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393;p24">
            <a:extLst>
              <a:ext uri="{FF2B5EF4-FFF2-40B4-BE49-F238E27FC236}">
                <a16:creationId xmlns:a16="http://schemas.microsoft.com/office/drawing/2014/main" id="{08EB9789-98D5-D6DD-5EB8-122659CB2596}"/>
              </a:ext>
            </a:extLst>
          </p:cNvPr>
          <p:cNvSpPr txBox="1"/>
          <p:nvPr/>
        </p:nvSpPr>
        <p:spPr>
          <a:xfrm>
            <a:off x="3403308" y="6348272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製造会社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92;p22">
            <a:extLst>
              <a:ext uri="{FF2B5EF4-FFF2-40B4-BE49-F238E27FC236}">
                <a16:creationId xmlns:a16="http://schemas.microsoft.com/office/drawing/2014/main" id="{8B48A1D6-3C5D-6BAE-1E5E-376EA7222FC2}"/>
              </a:ext>
            </a:extLst>
          </p:cNvPr>
          <p:cNvSpPr/>
          <p:nvPr/>
        </p:nvSpPr>
        <p:spPr>
          <a:xfrm>
            <a:off x="4883739" y="2517215"/>
            <a:ext cx="213600" cy="219600"/>
          </a:xfrm>
          <a:prstGeom prst="ellipse">
            <a:avLst/>
          </a:prstGeom>
          <a:solidFill>
            <a:srgbClr val="D4FCA9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3400"/>
            </a:pPr>
            <a:endParaRPr sz="27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41;p22">
            <a:extLst>
              <a:ext uri="{FF2B5EF4-FFF2-40B4-BE49-F238E27FC236}">
                <a16:creationId xmlns:a16="http://schemas.microsoft.com/office/drawing/2014/main" id="{83E8E43A-4CB3-BF78-EA9B-329927396F33}"/>
              </a:ext>
            </a:extLst>
          </p:cNvPr>
          <p:cNvSpPr/>
          <p:nvPr/>
        </p:nvSpPr>
        <p:spPr>
          <a:xfrm>
            <a:off x="4133435" y="4619341"/>
            <a:ext cx="213600" cy="219600"/>
          </a:xfrm>
          <a:prstGeom prst="ellipse">
            <a:avLst/>
          </a:prstGeom>
          <a:solidFill>
            <a:srgbClr val="D4FCA9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3400"/>
            </a:pPr>
            <a:endParaRPr sz="27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455;p24">
            <a:extLst>
              <a:ext uri="{FF2B5EF4-FFF2-40B4-BE49-F238E27FC236}">
                <a16:creationId xmlns:a16="http://schemas.microsoft.com/office/drawing/2014/main" id="{5CF4210B-DEBD-D02A-8E7E-7EBF2199B7D2}"/>
              </a:ext>
            </a:extLst>
          </p:cNvPr>
          <p:cNvSpPr txBox="1"/>
          <p:nvPr/>
        </p:nvSpPr>
        <p:spPr>
          <a:xfrm>
            <a:off x="4388237" y="4649599"/>
            <a:ext cx="384111" cy="189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製品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430;p24">
            <a:extLst>
              <a:ext uri="{FF2B5EF4-FFF2-40B4-BE49-F238E27FC236}">
                <a16:creationId xmlns:a16="http://schemas.microsoft.com/office/drawing/2014/main" id="{A0BBFCF7-6E92-4E44-7336-C59428383960}"/>
              </a:ext>
            </a:extLst>
          </p:cNvPr>
          <p:cNvCxnSpPr>
            <a:cxnSpLocks/>
          </p:cNvCxnSpPr>
          <p:nvPr/>
        </p:nvCxnSpPr>
        <p:spPr>
          <a:xfrm>
            <a:off x="4656663" y="5538805"/>
            <a:ext cx="88728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37" name="Google Shape;431;p24">
            <a:extLst>
              <a:ext uri="{FF2B5EF4-FFF2-40B4-BE49-F238E27FC236}">
                <a16:creationId xmlns:a16="http://schemas.microsoft.com/office/drawing/2014/main" id="{C8245F1E-ED3D-2DF3-56CD-08BC634670EB}"/>
              </a:ext>
            </a:extLst>
          </p:cNvPr>
          <p:cNvSpPr/>
          <p:nvPr/>
        </p:nvSpPr>
        <p:spPr>
          <a:xfrm>
            <a:off x="5053846" y="5437054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7;p24">
            <a:extLst>
              <a:ext uri="{FF2B5EF4-FFF2-40B4-BE49-F238E27FC236}">
                <a16:creationId xmlns:a16="http://schemas.microsoft.com/office/drawing/2014/main" id="{6508BBDE-3649-2D70-F1C3-B34DC9861469}"/>
              </a:ext>
            </a:extLst>
          </p:cNvPr>
          <p:cNvSpPr/>
          <p:nvPr/>
        </p:nvSpPr>
        <p:spPr>
          <a:xfrm>
            <a:off x="7119494" y="4608482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432;p24">
            <a:extLst>
              <a:ext uri="{FF2B5EF4-FFF2-40B4-BE49-F238E27FC236}">
                <a16:creationId xmlns:a16="http://schemas.microsoft.com/office/drawing/2014/main" id="{192F75CF-0D3F-FA87-5AED-20D35962FCC4}"/>
              </a:ext>
            </a:extLst>
          </p:cNvPr>
          <p:cNvSpPr txBox="1"/>
          <p:nvPr/>
        </p:nvSpPr>
        <p:spPr>
          <a:xfrm>
            <a:off x="4863650" y="5243135"/>
            <a:ext cx="571200" cy="189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-JP" altLang="en-US" sz="1440" dirty="0"/>
              <a:t>製造費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393;p24">
            <a:extLst>
              <a:ext uri="{FF2B5EF4-FFF2-40B4-BE49-F238E27FC236}">
                <a16:creationId xmlns:a16="http://schemas.microsoft.com/office/drawing/2014/main" id="{1299E203-F993-34F2-CD36-A3B81AFB5A40}"/>
              </a:ext>
            </a:extLst>
          </p:cNvPr>
          <p:cNvSpPr txBox="1"/>
          <p:nvPr/>
        </p:nvSpPr>
        <p:spPr>
          <a:xfrm>
            <a:off x="5274744" y="6326809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運営会社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377;p24">
            <a:extLst>
              <a:ext uri="{FF2B5EF4-FFF2-40B4-BE49-F238E27FC236}">
                <a16:creationId xmlns:a16="http://schemas.microsoft.com/office/drawing/2014/main" id="{ACD1B4B4-0380-33F0-8D7C-9EABBA0E4739}"/>
              </a:ext>
            </a:extLst>
          </p:cNvPr>
          <p:cNvGrpSpPr/>
          <p:nvPr/>
        </p:nvGrpSpPr>
        <p:grpSpPr>
          <a:xfrm>
            <a:off x="7744448" y="1028259"/>
            <a:ext cx="552240" cy="1016004"/>
            <a:chOff x="2956672" y="1384595"/>
            <a:chExt cx="690300" cy="1270005"/>
          </a:xfrm>
        </p:grpSpPr>
        <p:sp>
          <p:nvSpPr>
            <p:cNvPr id="62" name="Google Shape;378;p24">
              <a:extLst>
                <a:ext uri="{FF2B5EF4-FFF2-40B4-BE49-F238E27FC236}">
                  <a16:creationId xmlns:a16="http://schemas.microsoft.com/office/drawing/2014/main" id="{3A37692D-FBA7-C248-75E4-8DA092C25702}"/>
                </a:ext>
              </a:extLst>
            </p:cNvPr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379;p24">
              <a:extLst>
                <a:ext uri="{FF2B5EF4-FFF2-40B4-BE49-F238E27FC236}">
                  <a16:creationId xmlns:a16="http://schemas.microsoft.com/office/drawing/2014/main" id="{BB99289C-98D4-CB56-9414-273D2B63B04C}"/>
                </a:ext>
              </a:extLst>
            </p:cNvPr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380;p24">
              <a:extLst>
                <a:ext uri="{FF2B5EF4-FFF2-40B4-BE49-F238E27FC236}">
                  <a16:creationId xmlns:a16="http://schemas.microsoft.com/office/drawing/2014/main" id="{CB84F432-F38E-235C-0A30-E2CE96167B7E}"/>
                </a:ext>
              </a:extLst>
            </p:cNvPr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381;p24">
              <a:extLst>
                <a:ext uri="{FF2B5EF4-FFF2-40B4-BE49-F238E27FC236}">
                  <a16:creationId xmlns:a16="http://schemas.microsoft.com/office/drawing/2014/main" id="{BD86ECE5-6EB5-1D57-A822-7A4C104B879F}"/>
                </a:ext>
              </a:extLst>
            </p:cNvPr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382;p24">
              <a:extLst>
                <a:ext uri="{FF2B5EF4-FFF2-40B4-BE49-F238E27FC236}">
                  <a16:creationId xmlns:a16="http://schemas.microsoft.com/office/drawing/2014/main" id="{39ED9600-671D-569D-B01F-6FE852ACA4C3}"/>
                </a:ext>
              </a:extLst>
            </p:cNvPr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383;p24">
              <a:extLst>
                <a:ext uri="{FF2B5EF4-FFF2-40B4-BE49-F238E27FC236}">
                  <a16:creationId xmlns:a16="http://schemas.microsoft.com/office/drawing/2014/main" id="{87D39A49-A254-A03B-08DE-BA753A75A464}"/>
                </a:ext>
              </a:extLst>
            </p:cNvPr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384;p24">
              <a:extLst>
                <a:ext uri="{FF2B5EF4-FFF2-40B4-BE49-F238E27FC236}">
                  <a16:creationId xmlns:a16="http://schemas.microsoft.com/office/drawing/2014/main" id="{94B5F3AF-6C8C-4E80-8BDB-4BC2ABB75FB5}"/>
                </a:ext>
              </a:extLst>
            </p:cNvPr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385;p24">
              <a:extLst>
                <a:ext uri="{FF2B5EF4-FFF2-40B4-BE49-F238E27FC236}">
                  <a16:creationId xmlns:a16="http://schemas.microsoft.com/office/drawing/2014/main" id="{838E5BE9-A07A-2A7C-B197-B265967D3F48}"/>
                </a:ext>
              </a:extLst>
            </p:cNvPr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393;p24">
            <a:extLst>
              <a:ext uri="{FF2B5EF4-FFF2-40B4-BE49-F238E27FC236}">
                <a16:creationId xmlns:a16="http://schemas.microsoft.com/office/drawing/2014/main" id="{246F4BC9-BD42-A7F3-AD67-D03B35A8F47E}"/>
              </a:ext>
            </a:extLst>
          </p:cNvPr>
          <p:cNvSpPr txBox="1"/>
          <p:nvPr/>
        </p:nvSpPr>
        <p:spPr>
          <a:xfrm>
            <a:off x="7218494" y="2106374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食品メーカー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258;p22">
            <a:extLst>
              <a:ext uri="{FF2B5EF4-FFF2-40B4-BE49-F238E27FC236}">
                <a16:creationId xmlns:a16="http://schemas.microsoft.com/office/drawing/2014/main" id="{CB221862-717D-8F48-3A48-EB91B50DC6FF}"/>
              </a:ext>
            </a:extLst>
          </p:cNvPr>
          <p:cNvGrpSpPr/>
          <p:nvPr/>
        </p:nvGrpSpPr>
        <p:grpSpPr>
          <a:xfrm>
            <a:off x="7774705" y="3130210"/>
            <a:ext cx="565291" cy="1018127"/>
            <a:chOff x="0" y="0"/>
            <a:chExt cx="1893900" cy="3411039"/>
          </a:xfrm>
        </p:grpSpPr>
        <p:sp>
          <p:nvSpPr>
            <p:cNvPr id="482" name="Google Shape;259;p22">
              <a:extLst>
                <a:ext uri="{FF2B5EF4-FFF2-40B4-BE49-F238E27FC236}">
                  <a16:creationId xmlns:a16="http://schemas.microsoft.com/office/drawing/2014/main" id="{D1802807-8485-B65A-97F2-82F16FBF0840}"/>
                </a:ext>
              </a:extLst>
            </p:cNvPr>
            <p:cNvSpPr/>
            <p:nvPr/>
          </p:nvSpPr>
          <p:spPr>
            <a:xfrm>
              <a:off x="0" y="38439"/>
              <a:ext cx="1893900" cy="33726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81280" tIns="81280" rIns="81280" bIns="81280" anchor="ctr" anchorCtr="0">
              <a:noAutofit/>
            </a:bodyPr>
            <a:lstStyle/>
            <a:p>
              <a:pPr>
                <a:lnSpc>
                  <a:spcPct val="50000"/>
                </a:lnSpc>
              </a:pPr>
              <a:endParaRPr sz="11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260;p22">
              <a:extLst>
                <a:ext uri="{FF2B5EF4-FFF2-40B4-BE49-F238E27FC236}">
                  <a16:creationId xmlns:a16="http://schemas.microsoft.com/office/drawing/2014/main" id="{C7384393-799A-2E7E-AD5F-DAD3A2882ABC}"/>
                </a:ext>
              </a:extLst>
            </p:cNvPr>
            <p:cNvSpPr/>
            <p:nvPr/>
          </p:nvSpPr>
          <p:spPr>
            <a:xfrm>
              <a:off x="0" y="38439"/>
              <a:ext cx="1893900" cy="9240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81280" tIns="81280" rIns="81280" bIns="81280" anchor="ctr" anchorCtr="0">
              <a:noAutofit/>
            </a:bodyPr>
            <a:lstStyle/>
            <a:p>
              <a:pPr>
                <a:lnSpc>
                  <a:spcPct val="50000"/>
                </a:lnSpc>
              </a:pPr>
              <a:endParaRPr sz="11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261;p22">
              <a:extLst>
                <a:ext uri="{FF2B5EF4-FFF2-40B4-BE49-F238E27FC236}">
                  <a16:creationId xmlns:a16="http://schemas.microsoft.com/office/drawing/2014/main" id="{2DFD6A14-D27D-6FFF-E2FB-E158CC7EDD88}"/>
                </a:ext>
              </a:extLst>
            </p:cNvPr>
            <p:cNvSpPr/>
            <p:nvPr/>
          </p:nvSpPr>
          <p:spPr>
            <a:xfrm>
              <a:off x="549764" y="2509440"/>
              <a:ext cx="794400" cy="89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81280" tIns="81280" rIns="81280" bIns="81280" anchor="ctr" anchorCtr="0">
              <a:noAutofit/>
            </a:bodyPr>
            <a:lstStyle/>
            <a:p>
              <a:pPr>
                <a:lnSpc>
                  <a:spcPct val="50000"/>
                </a:lnSpc>
              </a:pPr>
              <a:endParaRPr sz="11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262;p22">
              <a:extLst>
                <a:ext uri="{FF2B5EF4-FFF2-40B4-BE49-F238E27FC236}">
                  <a16:creationId xmlns:a16="http://schemas.microsoft.com/office/drawing/2014/main" id="{321398B5-1095-39BF-E093-3AD432FA35C8}"/>
                </a:ext>
              </a:extLst>
            </p:cNvPr>
            <p:cNvCxnSpPr/>
            <p:nvPr/>
          </p:nvCxnSpPr>
          <p:spPr>
            <a:xfrm>
              <a:off x="495285" y="0"/>
              <a:ext cx="0" cy="984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486" name="Google Shape;263;p22">
              <a:extLst>
                <a:ext uri="{FF2B5EF4-FFF2-40B4-BE49-F238E27FC236}">
                  <a16:creationId xmlns:a16="http://schemas.microsoft.com/office/drawing/2014/main" id="{6DE0A7FD-45D4-2937-D5B4-9721A25FC3E4}"/>
                </a:ext>
              </a:extLst>
            </p:cNvPr>
            <p:cNvCxnSpPr/>
            <p:nvPr/>
          </p:nvCxnSpPr>
          <p:spPr>
            <a:xfrm>
              <a:off x="951671" y="0"/>
              <a:ext cx="0" cy="984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487" name="Google Shape;264;p22">
              <a:extLst>
                <a:ext uri="{FF2B5EF4-FFF2-40B4-BE49-F238E27FC236}">
                  <a16:creationId xmlns:a16="http://schemas.microsoft.com/office/drawing/2014/main" id="{E35DBBEB-5ECE-7A31-C4B2-DDAC5E314348}"/>
                </a:ext>
              </a:extLst>
            </p:cNvPr>
            <p:cNvCxnSpPr/>
            <p:nvPr/>
          </p:nvCxnSpPr>
          <p:spPr>
            <a:xfrm>
              <a:off x="1396171" y="0"/>
              <a:ext cx="0" cy="984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488" name="Google Shape;399;p24">
            <a:extLst>
              <a:ext uri="{FF2B5EF4-FFF2-40B4-BE49-F238E27FC236}">
                <a16:creationId xmlns:a16="http://schemas.microsoft.com/office/drawing/2014/main" id="{B83DF675-5CF8-4EA2-1A23-163F0458C8C1}"/>
              </a:ext>
            </a:extLst>
          </p:cNvPr>
          <p:cNvSpPr txBox="1"/>
          <p:nvPr/>
        </p:nvSpPr>
        <p:spPr>
          <a:xfrm>
            <a:off x="7272587" y="4233998"/>
            <a:ext cx="1602918" cy="30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スーパー</a:t>
            </a:r>
            <a:endParaRPr lang="en-US" altLang="ja-JP" sz="144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小売店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390;p24">
            <a:extLst>
              <a:ext uri="{FF2B5EF4-FFF2-40B4-BE49-F238E27FC236}">
                <a16:creationId xmlns:a16="http://schemas.microsoft.com/office/drawing/2014/main" id="{F43E1472-FEC7-1A4A-9D37-1B7F85CDB8D7}"/>
              </a:ext>
            </a:extLst>
          </p:cNvPr>
          <p:cNvGrpSpPr/>
          <p:nvPr/>
        </p:nvGrpSpPr>
        <p:grpSpPr>
          <a:xfrm>
            <a:off x="4028003" y="1071868"/>
            <a:ext cx="552289" cy="1022489"/>
            <a:chOff x="-1" y="0"/>
            <a:chExt cx="946737" cy="1704148"/>
          </a:xfrm>
        </p:grpSpPr>
        <p:sp>
          <p:nvSpPr>
            <p:cNvPr id="490" name="Google Shape;391;p24">
              <a:extLst>
                <a:ext uri="{FF2B5EF4-FFF2-40B4-BE49-F238E27FC236}">
                  <a16:creationId xmlns:a16="http://schemas.microsoft.com/office/drawing/2014/main" id="{7A081EF4-60DB-536A-9671-9FA1BE5AE43A}"/>
                </a:ext>
              </a:extLst>
            </p:cNvPr>
            <p:cNvSpPr/>
            <p:nvPr/>
          </p:nvSpPr>
          <p:spPr>
            <a:xfrm>
              <a:off x="-1" y="707200"/>
              <a:ext cx="946737" cy="996948"/>
            </a:xfrm>
            <a:custGeom>
              <a:avLst/>
              <a:gdLst/>
              <a:ahLst/>
              <a:cxnLst/>
              <a:rect l="l" t="t" r="r" b="b"/>
              <a:pathLst>
                <a:path w="19735" h="21600" extrusionOk="0">
                  <a:moveTo>
                    <a:pt x="41" y="21600"/>
                  </a:moveTo>
                  <a:lnTo>
                    <a:pt x="19726" y="21600"/>
                  </a:lnTo>
                  <a:cubicBezTo>
                    <a:pt x="19726" y="21600"/>
                    <a:pt x="20425" y="0"/>
                    <a:pt x="9625" y="0"/>
                  </a:cubicBezTo>
                  <a:cubicBezTo>
                    <a:pt x="-1175" y="0"/>
                    <a:pt x="41" y="21600"/>
                    <a:pt x="41" y="21600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392;p24">
              <a:extLst>
                <a:ext uri="{FF2B5EF4-FFF2-40B4-BE49-F238E27FC236}">
                  <a16:creationId xmlns:a16="http://schemas.microsoft.com/office/drawing/2014/main" id="{83D7D8C8-2D0C-F6DD-6337-AEC01F429671}"/>
                </a:ext>
              </a:extLst>
            </p:cNvPr>
            <p:cNvSpPr/>
            <p:nvPr/>
          </p:nvSpPr>
          <p:spPr>
            <a:xfrm>
              <a:off x="38013" y="0"/>
              <a:ext cx="855900" cy="854700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393;p24">
            <a:extLst>
              <a:ext uri="{FF2B5EF4-FFF2-40B4-BE49-F238E27FC236}">
                <a16:creationId xmlns:a16="http://schemas.microsoft.com/office/drawing/2014/main" id="{60EA02EB-4BC7-C4EF-7512-4BE7B09A6314}"/>
              </a:ext>
            </a:extLst>
          </p:cNvPr>
          <p:cNvSpPr txBox="1"/>
          <p:nvPr/>
        </p:nvSpPr>
        <p:spPr>
          <a:xfrm>
            <a:off x="3481879" y="2197610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ユーザー</a:t>
            </a:r>
            <a:endParaRPr lang="en-US" altLang="ja-JP" sz="1440" b="1" dirty="0"/>
          </a:p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との関係者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386;p24">
            <a:extLst>
              <a:ext uri="{FF2B5EF4-FFF2-40B4-BE49-F238E27FC236}">
                <a16:creationId xmlns:a16="http://schemas.microsoft.com/office/drawing/2014/main" id="{19DB8667-2D76-BDDD-7088-DB4823BC20C1}"/>
              </a:ext>
            </a:extLst>
          </p:cNvPr>
          <p:cNvCxnSpPr>
            <a:cxnSpLocks/>
          </p:cNvCxnSpPr>
          <p:nvPr/>
        </p:nvCxnSpPr>
        <p:spPr>
          <a:xfrm flipV="1">
            <a:off x="8046720" y="2441450"/>
            <a:ext cx="0" cy="61723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oval" w="lg" len="lg"/>
          </a:ln>
        </p:spPr>
      </p:cxnSp>
      <p:cxnSp>
        <p:nvCxnSpPr>
          <p:cNvPr id="497" name="Google Shape;430;p24">
            <a:extLst>
              <a:ext uri="{FF2B5EF4-FFF2-40B4-BE49-F238E27FC236}">
                <a16:creationId xmlns:a16="http://schemas.microsoft.com/office/drawing/2014/main" id="{F762CEEA-3965-77AD-3CE3-E1058BD6889C}"/>
              </a:ext>
            </a:extLst>
          </p:cNvPr>
          <p:cNvCxnSpPr>
            <a:cxnSpLocks/>
          </p:cNvCxnSpPr>
          <p:nvPr/>
        </p:nvCxnSpPr>
        <p:spPr>
          <a:xfrm flipV="1">
            <a:off x="6730564" y="2442335"/>
            <a:ext cx="601661" cy="58184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500" name="Google Shape;457;p24">
            <a:extLst>
              <a:ext uri="{FF2B5EF4-FFF2-40B4-BE49-F238E27FC236}">
                <a16:creationId xmlns:a16="http://schemas.microsoft.com/office/drawing/2014/main" id="{2E9FCB78-D685-CD48-BA36-5E7FA88506C3}"/>
              </a:ext>
            </a:extLst>
          </p:cNvPr>
          <p:cNvSpPr/>
          <p:nvPr/>
        </p:nvSpPr>
        <p:spPr>
          <a:xfrm>
            <a:off x="6980398" y="2574210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100;p21">
            <a:extLst>
              <a:ext uri="{FF2B5EF4-FFF2-40B4-BE49-F238E27FC236}">
                <a16:creationId xmlns:a16="http://schemas.microsoft.com/office/drawing/2014/main" id="{D5E0BE14-765C-CB92-3E89-769F705F5132}"/>
              </a:ext>
            </a:extLst>
          </p:cNvPr>
          <p:cNvSpPr/>
          <p:nvPr/>
        </p:nvSpPr>
        <p:spPr>
          <a:xfrm>
            <a:off x="6843447" y="2822707"/>
            <a:ext cx="700707" cy="797474"/>
          </a:xfrm>
          <a:custGeom>
            <a:avLst/>
            <a:gdLst>
              <a:gd name="csX0" fmla="*/ 0 w 875884"/>
              <a:gd name="csY0" fmla="*/ 0 h 639853"/>
              <a:gd name="csX1" fmla="*/ 0 w 875884"/>
              <a:gd name="csY1" fmla="*/ 0 h 639853"/>
              <a:gd name="csX2" fmla="*/ 510932 w 875884"/>
              <a:gd name="csY2" fmla="*/ 0 h 639853"/>
              <a:gd name="csX3" fmla="*/ 510932 w 875884"/>
              <a:gd name="csY3" fmla="*/ 0 h 639853"/>
              <a:gd name="csX4" fmla="*/ 729903 w 875884"/>
              <a:gd name="csY4" fmla="*/ 0 h 639853"/>
              <a:gd name="csX5" fmla="*/ 875884 w 875884"/>
              <a:gd name="csY5" fmla="*/ 0 h 639853"/>
              <a:gd name="csX6" fmla="*/ 875884 w 875884"/>
              <a:gd name="csY6" fmla="*/ 0 h 639853"/>
              <a:gd name="csX7" fmla="*/ 875884 w 875884"/>
              <a:gd name="csY7" fmla="*/ 373248 h 639853"/>
              <a:gd name="csX8" fmla="*/ 875884 w 875884"/>
              <a:gd name="csY8" fmla="*/ 373248 h 639853"/>
              <a:gd name="csX9" fmla="*/ 875884 w 875884"/>
              <a:gd name="csY9" fmla="*/ 533211 h 639853"/>
              <a:gd name="csX10" fmla="*/ 875884 w 875884"/>
              <a:gd name="csY10" fmla="*/ 639853 h 639853"/>
              <a:gd name="csX11" fmla="*/ 875884 w 875884"/>
              <a:gd name="csY11" fmla="*/ 639853 h 639853"/>
              <a:gd name="csX12" fmla="*/ 729903 w 875884"/>
              <a:gd name="csY12" fmla="*/ 639853 h 639853"/>
              <a:gd name="csX13" fmla="*/ 542645 w 875884"/>
              <a:gd name="csY13" fmla="*/ 822672 h 639853"/>
              <a:gd name="csX14" fmla="*/ 510932 w 875884"/>
              <a:gd name="csY14" fmla="*/ 639853 h 639853"/>
              <a:gd name="csX15" fmla="*/ 0 w 875884"/>
              <a:gd name="csY15" fmla="*/ 639853 h 639853"/>
              <a:gd name="csX16" fmla="*/ 0 w 875884"/>
              <a:gd name="csY16" fmla="*/ 639853 h 639853"/>
              <a:gd name="csX17" fmla="*/ 0 w 875884"/>
              <a:gd name="csY17" fmla="*/ 533211 h 639853"/>
              <a:gd name="csX18" fmla="*/ 0 w 875884"/>
              <a:gd name="csY18" fmla="*/ 373248 h 639853"/>
              <a:gd name="csX19" fmla="*/ 0 w 875884"/>
              <a:gd name="csY19" fmla="*/ 373248 h 639853"/>
              <a:gd name="csX20" fmla="*/ 0 w 875884"/>
              <a:gd name="csY20" fmla="*/ 0 h 639853"/>
              <a:gd name="csX0" fmla="*/ 0 w 875884"/>
              <a:gd name="csY0" fmla="*/ 174171 h 996843"/>
              <a:gd name="csX1" fmla="*/ 0 w 875884"/>
              <a:gd name="csY1" fmla="*/ 174171 h 996843"/>
              <a:gd name="csX2" fmla="*/ 510932 w 875884"/>
              <a:gd name="csY2" fmla="*/ 174171 h 996843"/>
              <a:gd name="csX3" fmla="*/ 576246 w 875884"/>
              <a:gd name="csY3" fmla="*/ 0 h 996843"/>
              <a:gd name="csX4" fmla="*/ 729903 w 875884"/>
              <a:gd name="csY4" fmla="*/ 174171 h 996843"/>
              <a:gd name="csX5" fmla="*/ 875884 w 875884"/>
              <a:gd name="csY5" fmla="*/ 174171 h 996843"/>
              <a:gd name="csX6" fmla="*/ 875884 w 875884"/>
              <a:gd name="csY6" fmla="*/ 174171 h 996843"/>
              <a:gd name="csX7" fmla="*/ 875884 w 875884"/>
              <a:gd name="csY7" fmla="*/ 547419 h 996843"/>
              <a:gd name="csX8" fmla="*/ 875884 w 875884"/>
              <a:gd name="csY8" fmla="*/ 547419 h 996843"/>
              <a:gd name="csX9" fmla="*/ 875884 w 875884"/>
              <a:gd name="csY9" fmla="*/ 707382 h 996843"/>
              <a:gd name="csX10" fmla="*/ 875884 w 875884"/>
              <a:gd name="csY10" fmla="*/ 814024 h 996843"/>
              <a:gd name="csX11" fmla="*/ 875884 w 875884"/>
              <a:gd name="csY11" fmla="*/ 814024 h 996843"/>
              <a:gd name="csX12" fmla="*/ 729903 w 875884"/>
              <a:gd name="csY12" fmla="*/ 814024 h 996843"/>
              <a:gd name="csX13" fmla="*/ 542645 w 875884"/>
              <a:gd name="csY13" fmla="*/ 996843 h 996843"/>
              <a:gd name="csX14" fmla="*/ 510932 w 875884"/>
              <a:gd name="csY14" fmla="*/ 814024 h 996843"/>
              <a:gd name="csX15" fmla="*/ 0 w 875884"/>
              <a:gd name="csY15" fmla="*/ 814024 h 996843"/>
              <a:gd name="csX16" fmla="*/ 0 w 875884"/>
              <a:gd name="csY16" fmla="*/ 814024 h 996843"/>
              <a:gd name="csX17" fmla="*/ 0 w 875884"/>
              <a:gd name="csY17" fmla="*/ 707382 h 996843"/>
              <a:gd name="csX18" fmla="*/ 0 w 875884"/>
              <a:gd name="csY18" fmla="*/ 547419 h 996843"/>
              <a:gd name="csX19" fmla="*/ 0 w 875884"/>
              <a:gd name="csY19" fmla="*/ 547419 h 996843"/>
              <a:gd name="csX20" fmla="*/ 0 w 875884"/>
              <a:gd name="csY20" fmla="*/ 174171 h 996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875884" h="996843">
                <a:moveTo>
                  <a:pt x="0" y="174171"/>
                </a:moveTo>
                <a:lnTo>
                  <a:pt x="0" y="174171"/>
                </a:lnTo>
                <a:lnTo>
                  <a:pt x="510932" y="174171"/>
                </a:lnTo>
                <a:lnTo>
                  <a:pt x="576246" y="0"/>
                </a:lnTo>
                <a:lnTo>
                  <a:pt x="729903" y="174171"/>
                </a:lnTo>
                <a:lnTo>
                  <a:pt x="875884" y="174171"/>
                </a:lnTo>
                <a:lnTo>
                  <a:pt x="875884" y="174171"/>
                </a:lnTo>
                <a:lnTo>
                  <a:pt x="875884" y="547419"/>
                </a:lnTo>
                <a:lnTo>
                  <a:pt x="875884" y="547419"/>
                </a:lnTo>
                <a:lnTo>
                  <a:pt x="875884" y="707382"/>
                </a:lnTo>
                <a:lnTo>
                  <a:pt x="875884" y="814024"/>
                </a:lnTo>
                <a:lnTo>
                  <a:pt x="875884" y="814024"/>
                </a:lnTo>
                <a:lnTo>
                  <a:pt x="729903" y="814024"/>
                </a:lnTo>
                <a:lnTo>
                  <a:pt x="542645" y="996843"/>
                </a:lnTo>
                <a:lnTo>
                  <a:pt x="510932" y="814024"/>
                </a:lnTo>
                <a:lnTo>
                  <a:pt x="0" y="814024"/>
                </a:lnTo>
                <a:lnTo>
                  <a:pt x="0" y="814024"/>
                </a:lnTo>
                <a:lnTo>
                  <a:pt x="0" y="707382"/>
                </a:lnTo>
                <a:lnTo>
                  <a:pt x="0" y="547419"/>
                </a:lnTo>
                <a:lnTo>
                  <a:pt x="0" y="547419"/>
                </a:lnTo>
                <a:lnTo>
                  <a:pt x="0" y="174171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175;p22">
            <a:extLst>
              <a:ext uri="{FF2B5EF4-FFF2-40B4-BE49-F238E27FC236}">
                <a16:creationId xmlns:a16="http://schemas.microsoft.com/office/drawing/2014/main" id="{979389A8-C3DF-AF25-3C67-B84C57BE12BB}"/>
              </a:ext>
            </a:extLst>
          </p:cNvPr>
          <p:cNvSpPr txBox="1"/>
          <p:nvPr/>
        </p:nvSpPr>
        <p:spPr>
          <a:xfrm>
            <a:off x="6529162" y="3046855"/>
            <a:ext cx="13416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レシピや</a:t>
            </a:r>
            <a:endParaRPr lang="en-US" altLang="ja-JP"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キャンペーン</a:t>
            </a:r>
            <a:endParaRPr lang="en-US" altLang="ja-JP"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/>
              <a:t>新商品情報</a:t>
            </a:r>
            <a:endParaRPr lang="en-US" altLang="ja-JP" sz="800" dirty="0"/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クーポン提供</a:t>
            </a:r>
            <a:endParaRPr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457;p24">
            <a:extLst>
              <a:ext uri="{FF2B5EF4-FFF2-40B4-BE49-F238E27FC236}">
                <a16:creationId xmlns:a16="http://schemas.microsoft.com/office/drawing/2014/main" id="{0C8C9273-856C-4854-FBB3-C36F7E22895D}"/>
              </a:ext>
            </a:extLst>
          </p:cNvPr>
          <p:cNvSpPr/>
          <p:nvPr/>
        </p:nvSpPr>
        <p:spPr>
          <a:xfrm>
            <a:off x="5050249" y="1502319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175;p22">
            <a:extLst>
              <a:ext uri="{FF2B5EF4-FFF2-40B4-BE49-F238E27FC236}">
                <a16:creationId xmlns:a16="http://schemas.microsoft.com/office/drawing/2014/main" id="{A2B4E492-951C-A95F-0D47-7092948F781F}"/>
              </a:ext>
            </a:extLst>
          </p:cNvPr>
          <p:cNvSpPr txBox="1"/>
          <p:nvPr/>
        </p:nvSpPr>
        <p:spPr>
          <a:xfrm>
            <a:off x="4489811" y="554654"/>
            <a:ext cx="13416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-JP" altLang="en-US" sz="1440" dirty="0"/>
              <a:t>有料会員で</a:t>
            </a:r>
            <a:endParaRPr lang="en-US" altLang="ja-JP" sz="1440" dirty="0"/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1440" dirty="0"/>
              <a:t>ユーザー間で情報を共有可能</a:t>
            </a:r>
            <a:endParaRPr lang="en-US" altLang="ja-JP"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430;p24">
            <a:extLst>
              <a:ext uri="{FF2B5EF4-FFF2-40B4-BE49-F238E27FC236}">
                <a16:creationId xmlns:a16="http://schemas.microsoft.com/office/drawing/2014/main" id="{DB6C679C-76CC-A732-51FA-A4DE7D7DC696}"/>
              </a:ext>
            </a:extLst>
          </p:cNvPr>
          <p:cNvCxnSpPr>
            <a:cxnSpLocks/>
          </p:cNvCxnSpPr>
          <p:nvPr/>
        </p:nvCxnSpPr>
        <p:spPr>
          <a:xfrm flipV="1">
            <a:off x="6637318" y="3684902"/>
            <a:ext cx="970034" cy="601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333" name="Google Shape;457;p24">
            <a:extLst>
              <a:ext uri="{FF2B5EF4-FFF2-40B4-BE49-F238E27FC236}">
                <a16:creationId xmlns:a16="http://schemas.microsoft.com/office/drawing/2014/main" id="{9A8D5B22-8876-5CFD-A982-088B75DD5BF8}"/>
              </a:ext>
            </a:extLst>
          </p:cNvPr>
          <p:cNvSpPr/>
          <p:nvPr/>
        </p:nvSpPr>
        <p:spPr>
          <a:xfrm>
            <a:off x="6982654" y="3593760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453;p24">
            <a:extLst>
              <a:ext uri="{FF2B5EF4-FFF2-40B4-BE49-F238E27FC236}">
                <a16:creationId xmlns:a16="http://schemas.microsoft.com/office/drawing/2014/main" id="{928A8113-3BAA-45DF-2EDF-A3EFB3C2A308}"/>
              </a:ext>
            </a:extLst>
          </p:cNvPr>
          <p:cNvCxnSpPr>
            <a:cxnSpLocks/>
          </p:cNvCxnSpPr>
          <p:nvPr/>
        </p:nvCxnSpPr>
        <p:spPr>
          <a:xfrm flipH="1">
            <a:off x="4899601" y="2550026"/>
            <a:ext cx="613562" cy="55767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340" name="Google Shape;452;p24">
            <a:extLst>
              <a:ext uri="{FF2B5EF4-FFF2-40B4-BE49-F238E27FC236}">
                <a16:creationId xmlns:a16="http://schemas.microsoft.com/office/drawing/2014/main" id="{19C0D1C8-DE14-2BDF-64FF-91EA737D0A49}"/>
              </a:ext>
            </a:extLst>
          </p:cNvPr>
          <p:cNvSpPr/>
          <p:nvPr/>
        </p:nvSpPr>
        <p:spPr>
          <a:xfrm>
            <a:off x="5130418" y="2725958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457;p24">
            <a:extLst>
              <a:ext uri="{FF2B5EF4-FFF2-40B4-BE49-F238E27FC236}">
                <a16:creationId xmlns:a16="http://schemas.microsoft.com/office/drawing/2014/main" id="{9BC1D0B7-9EB9-BC3C-514C-2B1E28C22959}"/>
              </a:ext>
            </a:extLst>
          </p:cNvPr>
          <p:cNvSpPr/>
          <p:nvPr/>
        </p:nvSpPr>
        <p:spPr>
          <a:xfrm>
            <a:off x="6953425" y="5707678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455;p24">
            <a:extLst>
              <a:ext uri="{FF2B5EF4-FFF2-40B4-BE49-F238E27FC236}">
                <a16:creationId xmlns:a16="http://schemas.microsoft.com/office/drawing/2014/main" id="{4C93751F-3760-40DC-6FAE-4EF9E44F0FCD}"/>
              </a:ext>
            </a:extLst>
          </p:cNvPr>
          <p:cNvSpPr txBox="1"/>
          <p:nvPr/>
        </p:nvSpPr>
        <p:spPr>
          <a:xfrm>
            <a:off x="6814021" y="5930346"/>
            <a:ext cx="577514" cy="1421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430;p24">
            <a:extLst>
              <a:ext uri="{FF2B5EF4-FFF2-40B4-BE49-F238E27FC236}">
                <a16:creationId xmlns:a16="http://schemas.microsoft.com/office/drawing/2014/main" id="{163E8EAF-B5A4-A674-5BCC-41FB53CBCF82}"/>
              </a:ext>
            </a:extLst>
          </p:cNvPr>
          <p:cNvCxnSpPr>
            <a:cxnSpLocks/>
          </p:cNvCxnSpPr>
          <p:nvPr/>
        </p:nvCxnSpPr>
        <p:spPr>
          <a:xfrm flipH="1">
            <a:off x="6554776" y="6169854"/>
            <a:ext cx="920361" cy="1272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349" name="Google Shape;458;p24">
            <a:extLst>
              <a:ext uri="{FF2B5EF4-FFF2-40B4-BE49-F238E27FC236}">
                <a16:creationId xmlns:a16="http://schemas.microsoft.com/office/drawing/2014/main" id="{949B2FE4-0223-D0DB-C407-2C3CA968AAEB}"/>
              </a:ext>
            </a:extLst>
          </p:cNvPr>
          <p:cNvSpPr txBox="1"/>
          <p:nvPr/>
        </p:nvSpPr>
        <p:spPr>
          <a:xfrm>
            <a:off x="6614894" y="6312210"/>
            <a:ext cx="1009200" cy="154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データ利用料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431;p24">
            <a:extLst>
              <a:ext uri="{FF2B5EF4-FFF2-40B4-BE49-F238E27FC236}">
                <a16:creationId xmlns:a16="http://schemas.microsoft.com/office/drawing/2014/main" id="{7C19A32C-7585-C21C-9FCE-4D2E5DA416B3}"/>
              </a:ext>
            </a:extLst>
          </p:cNvPr>
          <p:cNvSpPr/>
          <p:nvPr/>
        </p:nvSpPr>
        <p:spPr>
          <a:xfrm>
            <a:off x="6945625" y="6062090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458;p24">
            <a:extLst>
              <a:ext uri="{FF2B5EF4-FFF2-40B4-BE49-F238E27FC236}">
                <a16:creationId xmlns:a16="http://schemas.microsoft.com/office/drawing/2014/main" id="{760B043C-CB3B-BFD6-5D72-7A9CDC0865CD}"/>
              </a:ext>
            </a:extLst>
          </p:cNvPr>
          <p:cNvSpPr txBox="1"/>
          <p:nvPr/>
        </p:nvSpPr>
        <p:spPr>
          <a:xfrm>
            <a:off x="5080949" y="3071499"/>
            <a:ext cx="697802" cy="1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製品購入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455;p24">
            <a:extLst>
              <a:ext uri="{FF2B5EF4-FFF2-40B4-BE49-F238E27FC236}">
                <a16:creationId xmlns:a16="http://schemas.microsoft.com/office/drawing/2014/main" id="{9F68E775-2AAA-96DB-AD40-2AD67FCCE3AB}"/>
              </a:ext>
            </a:extLst>
          </p:cNvPr>
          <p:cNvSpPr txBox="1"/>
          <p:nvPr/>
        </p:nvSpPr>
        <p:spPr>
          <a:xfrm>
            <a:off x="4402792" y="2577803"/>
            <a:ext cx="384111" cy="189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製品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 冷蔵庫収納ケース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297680" cy="4297680"/>
          </a:xfrm>
          <a:prstGeom prst="roundRect">
            <a:avLst>
              <a:gd name="adj" fmla="val 2979"/>
            </a:avLst>
          </a:prstGeom>
          <a:solidFill>
            <a:srgbClr val="EAF3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463040" y="50749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2D6A4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691640" y="5074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野菜室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519379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home/claude/pptx_project/icons/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2" y="5289804"/>
            <a:ext cx="356616" cy="3566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41148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1691640" y="4114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94760" y="42336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pptx_project/icons/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2" y="4329684"/>
            <a:ext cx="356616" cy="3566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463040" y="31546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0502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0"/>
          <p:cNvSpPr/>
          <p:nvPr/>
        </p:nvSpPr>
        <p:spPr>
          <a:xfrm>
            <a:off x="1691640" y="3154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冷凍室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794760" y="32735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/home/claude/pptx_project/icons/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2" y="3369564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収納ケースごとにQRを貼付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0" y="18745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3" descr="/home/claude/pptx_project/icons/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019" y="202813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18470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個別QRコード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309360" y="222199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ケース1つずつに固有QRを貼付。アプリでスキャンして瞬時に登録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0" y="320040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4" descr="/home/claude/pptx_project/icons/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019" y="335401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309360" y="3172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冷蔵室・野菜室・冷凍室に対応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6309360" y="35478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収納場所ごとにケースを分けて、庫内すべてを見える化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0" y="452628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5" descr="/home/claude/pptx_project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019" y="4679899"/>
            <a:ext cx="332842" cy="33284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936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アプリとシームレス連携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6309360" y="48737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購入後はアプリをダウンロードしてQRを読み込むだけ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AIによる賞味・消費期限管理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登録した食品の期限をAIが見守り、食べ忘れを防止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pptx_projec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期限の自動トラッキング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登録済みの食材の賞味・消費期限を一覧で管理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期限が近づくとプッシュ通知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食べ忘れる前にリマインドし、無駄な廃棄を予防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優先度の高い食品を表示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早く食べるべき食材からホーム画面に自動表示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AIレシピ提案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冷蔵庫にある食材から、AIがぴったりの献立を提案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pptx_project/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食材を選んでレシピ生成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使いたい食材を選択するだけでAIが献立を提案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ロス削減レシピを優先表示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期限が近い食材を使うレシピを優先的に提案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毎日の“何作ろう”を解消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献立に悩む時間を減らし、家事の負担を軽減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食材登録・在庫管理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レシート撮影 or 手入力で、庫内の在庫を一元管理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pptx_project/icons/rece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レシート撮影で自動登録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買い物後にレシートを撮るだけで食材を一括登録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手入力にも対応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レシートがない食材も簡単に手動で追加可能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在庫を一覧でリアルタイム表示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今、冷蔵庫に何があるかをいつでも確認できる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FEATURE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企業クーポン配信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食品メーカー・スーパーのクーポンをアプリでまとめて配信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291840" cy="3840480"/>
          </a:xfrm>
          <a:prstGeom prst="roundRect">
            <a:avLst>
              <a:gd name="adj" fmla="val 3889"/>
            </a:avLst>
          </a:prstGeom>
          <a:solidFill>
            <a:srgbClr val="1B4332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17320" y="3063240"/>
            <a:ext cx="2103120" cy="21031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pptx_project/icons/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3589020"/>
            <a:ext cx="1051560" cy="1051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349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69951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663440" y="238658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4663440" y="2386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0" y="2276856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クーポンをアプリ内に集約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20640" y="267919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複数企業のクーポンをユーザーが一括で確認可能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663440" y="3282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20640" y="3172968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ターゲット層への効率的な訴求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20640" y="357530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食に関心の高い層へ企業が効率よく情報を届けられる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41788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66344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20640" y="4069080"/>
            <a:ext cx="598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新たな収益源として設計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20640" y="447141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掲載料・広告料としてマネタイズし継続収益を確保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使い始めるまでの流れ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/home/claude/pptx_project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548890"/>
            <a:ext cx="525780" cy="5257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6362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156362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収納ケースを購入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7452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260604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home/claude/pptx_project/icons/dow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930" y="2548890"/>
            <a:ext cx="525780" cy="5257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4670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334670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28600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アプリをダウンロード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2"/>
          <p:cNvSpPr/>
          <p:nvPr/>
        </p:nvSpPr>
        <p:spPr>
          <a:xfrm>
            <a:off x="438912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/home/claude/pptx_project/icons/qr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010" y="2548890"/>
            <a:ext cx="525780" cy="5257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2978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512978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06908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QRを読み取り登録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4068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7"/>
          <p:cNvSpPr/>
          <p:nvPr/>
        </p:nvSpPr>
        <p:spPr>
          <a:xfrm>
            <a:off x="617220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3" descr="/home/claude/pptx_project/icons/sc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2548890"/>
            <a:ext cx="525780" cy="5257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91286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9"/>
          <p:cNvSpPr/>
          <p:nvPr/>
        </p:nvSpPr>
        <p:spPr>
          <a:xfrm>
            <a:off x="691286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85216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食材を登録（レシート/手入力）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22376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7955280" y="228600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4" descr="/home/claude/pptx_project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170" y="2548890"/>
            <a:ext cx="525780" cy="5257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69594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4"/>
          <p:cNvSpPr/>
          <p:nvPr/>
        </p:nvSpPr>
        <p:spPr>
          <a:xfrm>
            <a:off x="869594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63524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食材をケースへ収納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9006840" y="2811780"/>
            <a:ext cx="731520" cy="0"/>
          </a:xfrm>
          <a:prstGeom prst="line">
            <a:avLst/>
          </a:prstGeom>
          <a:noFill/>
          <a:ln w="25400">
            <a:solidFill>
              <a:srgbClr val="BCD9C6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7"/>
          <p:cNvSpPr/>
          <p:nvPr/>
        </p:nvSpPr>
        <p:spPr>
          <a:xfrm>
            <a:off x="9738360" y="2286000"/>
            <a:ext cx="1051560" cy="105156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5" descr="/home/claude/pptx_project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0" y="2548890"/>
            <a:ext cx="525780" cy="52578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0479024" y="2176272"/>
            <a:ext cx="384048" cy="384048"/>
          </a:xfrm>
          <a:prstGeom prst="ellipse">
            <a:avLst/>
          </a:prstGeom>
          <a:solidFill>
            <a:srgbClr val="E050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9"/>
          <p:cNvSpPr/>
          <p:nvPr/>
        </p:nvSpPr>
        <p:spPr>
          <a:xfrm>
            <a:off x="10479024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418320" y="3474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在庫・期限・レシピを管理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822960" y="4434840"/>
            <a:ext cx="10515600" cy="1554480"/>
          </a:xfrm>
          <a:prstGeom prst="roundRect">
            <a:avLst>
              <a:gd name="adj" fmla="val 8235"/>
            </a:avLst>
          </a:prstGeom>
          <a:solidFill>
            <a:srgbClr val="EAF3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2"/>
          <p:cNvSpPr/>
          <p:nvPr/>
        </p:nvSpPr>
        <p:spPr>
          <a:xfrm>
            <a:off x="1097280" y="470916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1" name="Image 6" descr="/home/claude/pptx_project/icons/ti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590" y="4903470"/>
            <a:ext cx="388620" cy="3886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057400" y="4709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必要に応じてクーポンを利用して、次の買い物もお得に</a:t>
            </a:r>
            <a:endParaRPr lang="en-US" sz="1600" dirty="0"/>
          </a:p>
        </p:txBody>
      </p:sp>
      <p:sp>
        <p:nvSpPr>
          <p:cNvPr id="43" name="Text 34"/>
          <p:cNvSpPr/>
          <p:nvPr/>
        </p:nvSpPr>
        <p:spPr>
          <a:xfrm>
            <a:off x="2057400" y="51663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食品管理から次の購買行動まで、アプリ内で体験がつながる設計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FRESHBOX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単なる保存容器で終わらない、6つの強み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51560" y="19202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pptx_project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291" y="20539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モノ×コトの一体設計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収納ケースとアプリが連携し、単なる保存容器で終わらない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home/claude/pptx_project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171" y="20539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食品ロス削減と時短を両立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家事の効率化と社会課題の解決を同時に実現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/home/claude/pptx_project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9051" y="20539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06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AIによる期限管理とレシピ提案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3108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食材を無駄なく使い切る導線を自動で作る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22960" y="4023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5"/>
          <p:cNvSpPr/>
          <p:nvPr/>
        </p:nvSpPr>
        <p:spPr>
          <a:xfrm>
            <a:off x="1051560" y="425196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/home/claude/pptx_project/icons/y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291" y="438569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継続的な収益モデル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51560" y="5440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ケース販売に加え、クーポン掲載料で安定収益を確保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4023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9"/>
          <p:cNvSpPr/>
          <p:nvPr/>
        </p:nvSpPr>
        <p:spPr>
          <a:xfrm>
            <a:off x="4663440" y="425196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4" descr="/home/claude/pptx_project/icons/qr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7171" y="438569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QRで“場所”と“情報”を紐付け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5440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どこに何があるかを即座に把握できる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3"/>
          <p:cNvSpPr/>
          <p:nvPr/>
        </p:nvSpPr>
        <p:spPr>
          <a:xfrm>
            <a:off x="8275320" y="425196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5" descr="/home/claude/pptx_project/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9051" y="4385691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37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幅広いターゲットに対応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5440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6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一人暮らしから子育て世帯まで日常的に使える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こんな人・世帯に使ってほしい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60934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pptx_project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一人暮らし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8755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食材を買いすぎて余らせがちな単身世帯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30682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home/claude/pptx_project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共働き家庭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買い物・献立を考える時間が限られている家庭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700430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/home/claude/pptx_project/icons/fami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子育て世帯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8251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家族分の食材管理が煩雑になりがちな世帯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15400" y="182880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5"/>
          <p:cNvSpPr/>
          <p:nvPr/>
        </p:nvSpPr>
        <p:spPr>
          <a:xfrm>
            <a:off x="9701784" y="214884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/home/claude/pptx_project/icons/le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4" y="23774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3246120"/>
            <a:ext cx="2157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食品ロス削減に関心が高い層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79992" y="3977640"/>
            <a:ext cx="21579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環境意識が高く、無駄なく暮らしたい人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収益源は「販売」と「継続課金的なクーポン収益」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74920" cy="2743200"/>
          </a:xfrm>
          <a:prstGeom prst="roundRect">
            <a:avLst>
              <a:gd name="adj" fmla="val 4667"/>
            </a:avLst>
          </a:prstGeom>
          <a:solidFill>
            <a:srgbClr val="EAF3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/home/claude/pptx_project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収納ケース販売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514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買い切り型の初期収益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30632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QRコード付き収納ケースの販売による直接収益。ユーザー獲得と同時に発生する主要な収益源。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166360" cy="2743200"/>
          </a:xfrm>
          <a:prstGeom prst="roundRect">
            <a:avLst>
              <a:gd name="adj" fmla="val 4667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6446520" y="205740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/home/claude/pptx_project/icons/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クーポン掲載料・広告料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3152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EE0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継続的なストック型収益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46520" y="30632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4F1E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食品メーカーやスーパーからクーポン掲載料・広告料を徴収。アクティブユーザーが増えるほど企業価値が高まる。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1097280" y="507492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/home/claude/pptx_project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" y="524637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502920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ケース販売でユーザーを獲得 → アプリ利用継続 → 企業への訴求価値が向上 → クーポン収益が拡大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965960" y="54864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ハードウェア収益とプラットフォーム収益を組み合わせた、二段構えの収益構造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6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今後さらに加えたい機能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プラットフォームとしての価値をさらに高めるための拡張機能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24128" y="21671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/home/claude/pptx_project/icons/fam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3500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9659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家族間での冷蔵庫情報共有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6373368" y="21671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/home/claude/pptx_project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3500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659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期限が近い食材をホーム画面に優先表示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3337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0"/>
          <p:cNvSpPr/>
          <p:nvPr/>
        </p:nvSpPr>
        <p:spPr>
          <a:xfrm>
            <a:off x="1024128" y="35387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/home/claude/pptx_project/icons/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372160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3375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買い物リストの自動作成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72200" y="33375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3"/>
          <p:cNvSpPr/>
          <p:nvPr/>
        </p:nvSpPr>
        <p:spPr>
          <a:xfrm>
            <a:off x="6373368" y="35387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3" descr="/home/claude/pptx_project/icons/sc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72160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33375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不足している食材の自動提案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7091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6"/>
          <p:cNvSpPr/>
          <p:nvPr/>
        </p:nvSpPr>
        <p:spPr>
          <a:xfrm>
            <a:off x="1024128" y="49103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4" descr="/home/claude/pptx_project/icons/st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7008" y="509320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74520" y="4709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スーパーの特売情報との連携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172200" y="47091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B1A12">
                <a:alpha val="3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9"/>
          <p:cNvSpPr/>
          <p:nvPr/>
        </p:nvSpPr>
        <p:spPr>
          <a:xfrm>
            <a:off x="6373368" y="491032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5" descr="/home/claude/pptx_project/icons/utensi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509320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23760" y="4709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栄養バランスを考慮した献立提案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" name="Google Shape;430;p24">
            <a:extLst>
              <a:ext uri="{FF2B5EF4-FFF2-40B4-BE49-F238E27FC236}">
                <a16:creationId xmlns:a16="http://schemas.microsoft.com/office/drawing/2014/main" id="{53D2E58F-2405-E23A-45BE-BDA9C42574A9}"/>
              </a:ext>
            </a:extLst>
          </p:cNvPr>
          <p:cNvCxnSpPr>
            <a:cxnSpLocks/>
          </p:cNvCxnSpPr>
          <p:nvPr/>
        </p:nvCxnSpPr>
        <p:spPr>
          <a:xfrm>
            <a:off x="6568478" y="5804463"/>
            <a:ext cx="909528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432" name="Google Shape;432;p24"/>
          <p:cNvSpPr txBox="1"/>
          <p:nvPr/>
        </p:nvSpPr>
        <p:spPr>
          <a:xfrm>
            <a:off x="6761025" y="5243135"/>
            <a:ext cx="571200" cy="189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広告費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93;p24">
            <a:extLst>
              <a:ext uri="{FF2B5EF4-FFF2-40B4-BE49-F238E27FC236}">
                <a16:creationId xmlns:a16="http://schemas.microsoft.com/office/drawing/2014/main" id="{517A05CE-9610-AE12-989F-D02F1D69B606}"/>
              </a:ext>
            </a:extLst>
          </p:cNvPr>
          <p:cNvSpPr txBox="1"/>
          <p:nvPr/>
        </p:nvSpPr>
        <p:spPr>
          <a:xfrm>
            <a:off x="5280421" y="4149667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アプリ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6367118" y="4746360"/>
            <a:ext cx="402720" cy="16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売上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6685146" y="4723752"/>
            <a:ext cx="793017" cy="3738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広告の配信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458;p24">
            <a:extLst>
              <a:ext uri="{FF2B5EF4-FFF2-40B4-BE49-F238E27FC236}">
                <a16:creationId xmlns:a16="http://schemas.microsoft.com/office/drawing/2014/main" id="{AAF91149-2A61-11E7-D0D6-16766EC9C1E0}"/>
              </a:ext>
            </a:extLst>
          </p:cNvPr>
          <p:cNvSpPr txBox="1"/>
          <p:nvPr/>
        </p:nvSpPr>
        <p:spPr>
          <a:xfrm>
            <a:off x="6160676" y="2688662"/>
            <a:ext cx="557444" cy="1677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会員費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407;p24">
            <a:extLst>
              <a:ext uri="{FF2B5EF4-FFF2-40B4-BE49-F238E27FC236}">
                <a16:creationId xmlns:a16="http://schemas.microsoft.com/office/drawing/2014/main" id="{DE8EFEC5-701A-EB8E-CA21-09F07343B2F8}"/>
              </a:ext>
            </a:extLst>
          </p:cNvPr>
          <p:cNvCxnSpPr>
            <a:cxnSpLocks/>
          </p:cNvCxnSpPr>
          <p:nvPr/>
        </p:nvCxnSpPr>
        <p:spPr>
          <a:xfrm flipV="1">
            <a:off x="5179918" y="1624898"/>
            <a:ext cx="432358" cy="979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ot"/>
            <a:miter lim="400000"/>
            <a:headEnd type="none" w="sm" len="sm"/>
            <a:tailEnd type="stealth" w="med" len="med"/>
          </a:ln>
        </p:spPr>
      </p:cxnSp>
      <p:sp>
        <p:nvSpPr>
          <p:cNvPr id="326" name="Google Shape;100;p21">
            <a:extLst>
              <a:ext uri="{FF2B5EF4-FFF2-40B4-BE49-F238E27FC236}">
                <a16:creationId xmlns:a16="http://schemas.microsoft.com/office/drawing/2014/main" id="{87907C9C-CFC6-4453-0687-324B0406B5B2}"/>
              </a:ext>
            </a:extLst>
          </p:cNvPr>
          <p:cNvSpPr/>
          <p:nvPr/>
        </p:nvSpPr>
        <p:spPr>
          <a:xfrm>
            <a:off x="4516356" y="354192"/>
            <a:ext cx="1299500" cy="694404"/>
          </a:xfrm>
          <a:prstGeom prst="wedgeRoundRectCallout">
            <a:avLst>
              <a:gd name="adj1" fmla="val 3254"/>
              <a:gd name="adj2" fmla="val 95585"/>
              <a:gd name="adj3" fmla="val 0"/>
            </a:avLst>
          </a:prstGeom>
          <a:solidFill>
            <a:srgbClr val="DDDDDD"/>
          </a:solidFill>
          <a:ln>
            <a:noFill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407;p24">
            <a:extLst>
              <a:ext uri="{FF2B5EF4-FFF2-40B4-BE49-F238E27FC236}">
                <a16:creationId xmlns:a16="http://schemas.microsoft.com/office/drawing/2014/main" id="{FDC61F67-1C35-3C2A-0C2C-0252DA8D4A80}"/>
              </a:ext>
            </a:extLst>
          </p:cNvPr>
          <p:cNvCxnSpPr>
            <a:cxnSpLocks/>
          </p:cNvCxnSpPr>
          <p:nvPr/>
        </p:nvCxnSpPr>
        <p:spPr>
          <a:xfrm flipH="1" flipV="1">
            <a:off x="4678643" y="1626287"/>
            <a:ext cx="804614" cy="8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ot"/>
            <a:miter lim="400000"/>
            <a:headEnd type="none" w="sm" len="sm"/>
            <a:tailEnd type="stealth" w="med" len="med"/>
          </a:ln>
        </p:spPr>
      </p:cxnSp>
      <p:cxnSp>
        <p:nvCxnSpPr>
          <p:cNvPr id="49" name="Google Shape;430;p24">
            <a:extLst>
              <a:ext uri="{FF2B5EF4-FFF2-40B4-BE49-F238E27FC236}">
                <a16:creationId xmlns:a16="http://schemas.microsoft.com/office/drawing/2014/main" id="{918A3D90-4905-E033-9022-50DB607BB1EE}"/>
              </a:ext>
            </a:extLst>
          </p:cNvPr>
          <p:cNvCxnSpPr>
            <a:cxnSpLocks/>
          </p:cNvCxnSpPr>
          <p:nvPr/>
        </p:nvCxnSpPr>
        <p:spPr>
          <a:xfrm>
            <a:off x="6843448" y="4351641"/>
            <a:ext cx="713031" cy="61919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33" name="Google Shape;200;p22">
            <a:extLst>
              <a:ext uri="{FF2B5EF4-FFF2-40B4-BE49-F238E27FC236}">
                <a16:creationId xmlns:a16="http://schemas.microsoft.com/office/drawing/2014/main" id="{DA3E275B-70CB-CD33-4397-9208DA9C8186}"/>
              </a:ext>
            </a:extLst>
          </p:cNvPr>
          <p:cNvCxnSpPr>
            <a:cxnSpLocks/>
          </p:cNvCxnSpPr>
          <p:nvPr/>
        </p:nvCxnSpPr>
        <p:spPr>
          <a:xfrm flipH="1">
            <a:off x="4233814" y="4427313"/>
            <a:ext cx="6422" cy="62196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374" name="Google Shape;374;p24"/>
          <p:cNvCxnSpPr/>
          <p:nvPr/>
        </p:nvCxnSpPr>
        <p:spPr>
          <a:xfrm>
            <a:off x="591627" y="4707482"/>
            <a:ext cx="11000640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375" name="Google Shape;375;p24"/>
          <p:cNvCxnSpPr/>
          <p:nvPr/>
        </p:nvCxnSpPr>
        <p:spPr>
          <a:xfrm>
            <a:off x="624720" y="2638638"/>
            <a:ext cx="11000640" cy="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miter lim="400000"/>
            <a:headEnd type="none" w="sm" len="sm"/>
            <a:tailEnd type="none" w="sm" len="sm"/>
          </a:ln>
        </p:spPr>
      </p:cxnSp>
      <p:grpSp>
        <p:nvGrpSpPr>
          <p:cNvPr id="377" name="Google Shape;377;p24"/>
          <p:cNvGrpSpPr/>
          <p:nvPr/>
        </p:nvGrpSpPr>
        <p:grpSpPr>
          <a:xfrm>
            <a:off x="5815827" y="5255993"/>
            <a:ext cx="552240" cy="1016004"/>
            <a:chOff x="2956672" y="1384595"/>
            <a:chExt cx="690300" cy="1270005"/>
          </a:xfrm>
        </p:grpSpPr>
        <p:sp>
          <p:nvSpPr>
            <p:cNvPr id="378" name="Google Shape;378;p24"/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6" name="Google Shape;386;p24"/>
          <p:cNvCxnSpPr>
            <a:cxnSpLocks/>
          </p:cNvCxnSpPr>
          <p:nvPr/>
        </p:nvCxnSpPr>
        <p:spPr>
          <a:xfrm>
            <a:off x="4785702" y="3587143"/>
            <a:ext cx="760806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oval" w="lg" len="lg"/>
          </a:ln>
        </p:spPr>
      </p:cxnSp>
      <p:grpSp>
        <p:nvGrpSpPr>
          <p:cNvPr id="390" name="Google Shape;390;p24"/>
          <p:cNvGrpSpPr/>
          <p:nvPr/>
        </p:nvGrpSpPr>
        <p:grpSpPr>
          <a:xfrm>
            <a:off x="5822076" y="1030604"/>
            <a:ext cx="552289" cy="1022489"/>
            <a:chOff x="-1" y="0"/>
            <a:chExt cx="946737" cy="1704148"/>
          </a:xfrm>
        </p:grpSpPr>
        <p:sp>
          <p:nvSpPr>
            <p:cNvPr id="391" name="Google Shape;391;p24"/>
            <p:cNvSpPr/>
            <p:nvPr/>
          </p:nvSpPr>
          <p:spPr>
            <a:xfrm>
              <a:off x="-1" y="707200"/>
              <a:ext cx="946737" cy="996948"/>
            </a:xfrm>
            <a:custGeom>
              <a:avLst/>
              <a:gdLst/>
              <a:ahLst/>
              <a:cxnLst/>
              <a:rect l="l" t="t" r="r" b="b"/>
              <a:pathLst>
                <a:path w="19735" h="21600" extrusionOk="0">
                  <a:moveTo>
                    <a:pt x="41" y="21600"/>
                  </a:moveTo>
                  <a:lnTo>
                    <a:pt x="19726" y="21600"/>
                  </a:lnTo>
                  <a:cubicBezTo>
                    <a:pt x="19726" y="21600"/>
                    <a:pt x="20425" y="0"/>
                    <a:pt x="9625" y="0"/>
                  </a:cubicBezTo>
                  <a:cubicBezTo>
                    <a:pt x="-1175" y="0"/>
                    <a:pt x="41" y="21600"/>
                    <a:pt x="41" y="21600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38013" y="0"/>
              <a:ext cx="855900" cy="854700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24"/>
          <p:cNvSpPr txBox="1"/>
          <p:nvPr/>
        </p:nvSpPr>
        <p:spPr>
          <a:xfrm>
            <a:off x="5347054" y="2075690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ユーザー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3419649" y="4107259"/>
            <a:ext cx="1602918" cy="30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冷蔵庫収納品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7338025" y="6562483"/>
            <a:ext cx="1473776" cy="16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データ分析企業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10517928" y="1628711"/>
            <a:ext cx="92688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r>
              <a:rPr lang="ja" altLang="en-US" sz="152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利用者</a:t>
            </a:r>
            <a:endParaRPr sz="152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10517928" y="3636009"/>
            <a:ext cx="92688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r>
              <a:rPr lang="ja" altLang="en-US" sz="152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事業</a:t>
            </a:r>
            <a:endParaRPr sz="152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10517928" y="5762914"/>
            <a:ext cx="92688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r>
              <a:rPr lang="ja" altLang="en-US" sz="152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事業者</a:t>
            </a:r>
            <a:endParaRPr sz="152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24"/>
          <p:cNvCxnSpPr/>
          <p:nvPr/>
        </p:nvCxnSpPr>
        <p:spPr>
          <a:xfrm>
            <a:off x="5987738" y="2410442"/>
            <a:ext cx="0" cy="64824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dot"/>
            <a:miter lim="400000"/>
            <a:headEnd type="none" w="sm" len="sm"/>
            <a:tailEnd type="stealth" w="med" len="med"/>
          </a:ln>
        </p:spPr>
      </p:cxnSp>
      <p:sp>
        <p:nvSpPr>
          <p:cNvPr id="408" name="Google Shape;408;p24"/>
          <p:cNvSpPr txBox="1"/>
          <p:nvPr/>
        </p:nvSpPr>
        <p:spPr>
          <a:xfrm>
            <a:off x="609600" y="0"/>
            <a:ext cx="10972800" cy="76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 algn="ctr">
              <a:buClr>
                <a:srgbClr val="000000"/>
              </a:buClr>
              <a:buSzPts val="3000"/>
            </a:pPr>
            <a:endParaRPr sz="2400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7750016" y="5255993"/>
            <a:ext cx="552240" cy="1016004"/>
            <a:chOff x="2956672" y="1384595"/>
            <a:chExt cx="690300" cy="1270005"/>
          </a:xfrm>
        </p:grpSpPr>
        <p:sp>
          <p:nvSpPr>
            <p:cNvPr id="421" name="Google Shape;421;p24"/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9" name="Google Shape;429;p24"/>
          <p:cNvSpPr txBox="1"/>
          <p:nvPr/>
        </p:nvSpPr>
        <p:spPr>
          <a:xfrm>
            <a:off x="7098592" y="6336887"/>
            <a:ext cx="18571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" altLang="en-US" sz="144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広告主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24"/>
          <p:cNvCxnSpPr/>
          <p:nvPr/>
        </p:nvCxnSpPr>
        <p:spPr>
          <a:xfrm>
            <a:off x="6547825" y="5524206"/>
            <a:ext cx="1009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431" name="Google Shape;431;p24"/>
          <p:cNvSpPr/>
          <p:nvPr/>
        </p:nvSpPr>
        <p:spPr>
          <a:xfrm>
            <a:off x="6964798" y="5418078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5880938" y="2577802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24"/>
          <p:cNvCxnSpPr>
            <a:cxnSpLocks/>
          </p:cNvCxnSpPr>
          <p:nvPr/>
        </p:nvCxnSpPr>
        <p:spPr>
          <a:xfrm flipV="1">
            <a:off x="4647824" y="2352749"/>
            <a:ext cx="635894" cy="606063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stealth" w="med" len="med"/>
          </a:ln>
        </p:spPr>
      </p:cxnSp>
      <p:cxnSp>
        <p:nvCxnSpPr>
          <p:cNvPr id="459" name="Google Shape;459;p24"/>
          <p:cNvCxnSpPr/>
          <p:nvPr/>
        </p:nvCxnSpPr>
        <p:spPr>
          <a:xfrm rot="10800000">
            <a:off x="6231896" y="4461520"/>
            <a:ext cx="0" cy="729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sm" len="sm"/>
            <a:tailEnd type="none" w="sm" len="sm"/>
          </a:ln>
        </p:spPr>
      </p:cxnSp>
      <p:sp>
        <p:nvSpPr>
          <p:cNvPr id="460" name="Google Shape;460;p24"/>
          <p:cNvSpPr/>
          <p:nvPr/>
        </p:nvSpPr>
        <p:spPr>
          <a:xfrm>
            <a:off x="6125040" y="4730080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24"/>
          <p:cNvCxnSpPr/>
          <p:nvPr/>
        </p:nvCxnSpPr>
        <p:spPr>
          <a:xfrm>
            <a:off x="595740" y="762000"/>
            <a:ext cx="11000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" name="Google Shape;178;p22">
            <a:extLst>
              <a:ext uri="{FF2B5EF4-FFF2-40B4-BE49-F238E27FC236}">
                <a16:creationId xmlns:a16="http://schemas.microsoft.com/office/drawing/2014/main" id="{A3ACDDEF-07C6-F84C-BD01-2FF3FE46F6C2}"/>
              </a:ext>
            </a:extLst>
          </p:cNvPr>
          <p:cNvSpPr/>
          <p:nvPr/>
        </p:nvSpPr>
        <p:spPr>
          <a:xfrm>
            <a:off x="3995375" y="3367452"/>
            <a:ext cx="489720" cy="482181"/>
          </a:xfrm>
          <a:prstGeom prst="ellipse">
            <a:avLst/>
          </a:prstGeom>
          <a:solidFill>
            <a:srgbClr val="D4FCA9"/>
          </a:solidFill>
          <a:ln w="381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3400"/>
            </a:pPr>
            <a:endParaRPr sz="27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51;p22">
            <a:extLst>
              <a:ext uri="{FF2B5EF4-FFF2-40B4-BE49-F238E27FC236}">
                <a16:creationId xmlns:a16="http://schemas.microsoft.com/office/drawing/2014/main" id="{1F66A556-2F9E-1138-E9FF-9892F4859739}"/>
              </a:ext>
            </a:extLst>
          </p:cNvPr>
          <p:cNvSpPr/>
          <p:nvPr/>
        </p:nvSpPr>
        <p:spPr>
          <a:xfrm>
            <a:off x="3964115" y="3081931"/>
            <a:ext cx="552240" cy="1011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lnSpc>
                <a:spcPct val="50000"/>
              </a:lnSpc>
              <a:buClr>
                <a:srgbClr val="000000"/>
              </a:buClr>
              <a:buSzPts val="3400"/>
            </a:pPr>
            <a:endParaRPr sz="27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164;p22">
            <a:extLst>
              <a:ext uri="{FF2B5EF4-FFF2-40B4-BE49-F238E27FC236}">
                <a16:creationId xmlns:a16="http://schemas.microsoft.com/office/drawing/2014/main" id="{870D88AF-2AA9-42F2-0C72-E7C33A8BBF84}"/>
              </a:ext>
            </a:extLst>
          </p:cNvPr>
          <p:cNvGrpSpPr/>
          <p:nvPr/>
        </p:nvGrpSpPr>
        <p:grpSpPr>
          <a:xfrm>
            <a:off x="5857519" y="3099038"/>
            <a:ext cx="542422" cy="1011968"/>
            <a:chOff x="6491001" y="3918898"/>
            <a:chExt cx="685500" cy="1278900"/>
          </a:xfrm>
        </p:grpSpPr>
        <p:sp>
          <p:nvSpPr>
            <p:cNvPr id="8" name="Google Shape;165;p22">
              <a:extLst>
                <a:ext uri="{FF2B5EF4-FFF2-40B4-BE49-F238E27FC236}">
                  <a16:creationId xmlns:a16="http://schemas.microsoft.com/office/drawing/2014/main" id="{477413B5-7A66-CE27-579E-FA7FEA13A064}"/>
                </a:ext>
              </a:extLst>
            </p:cNvPr>
            <p:cNvSpPr/>
            <p:nvPr/>
          </p:nvSpPr>
          <p:spPr>
            <a:xfrm>
              <a:off x="6491001" y="3918898"/>
              <a:ext cx="685500" cy="1278900"/>
            </a:xfrm>
            <a:prstGeom prst="roundRect">
              <a:avLst>
                <a:gd name="adj" fmla="val 8467"/>
              </a:avLst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66;p22">
              <a:extLst>
                <a:ext uri="{FF2B5EF4-FFF2-40B4-BE49-F238E27FC236}">
                  <a16:creationId xmlns:a16="http://schemas.microsoft.com/office/drawing/2014/main" id="{C96388CC-B0EA-1762-64F6-F69516F7AD7D}"/>
                </a:ext>
              </a:extLst>
            </p:cNvPr>
            <p:cNvSpPr/>
            <p:nvPr/>
          </p:nvSpPr>
          <p:spPr>
            <a:xfrm>
              <a:off x="6569453" y="4014344"/>
              <a:ext cx="539100" cy="9240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7;p22">
              <a:extLst>
                <a:ext uri="{FF2B5EF4-FFF2-40B4-BE49-F238E27FC236}">
                  <a16:creationId xmlns:a16="http://schemas.microsoft.com/office/drawing/2014/main" id="{D6EB9472-3F63-BAEC-4D41-C8DFF1FF94B4}"/>
                </a:ext>
              </a:extLst>
            </p:cNvPr>
            <p:cNvSpPr/>
            <p:nvPr/>
          </p:nvSpPr>
          <p:spPr>
            <a:xfrm>
              <a:off x="6771922" y="4993039"/>
              <a:ext cx="135300" cy="1392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227;p22">
            <a:extLst>
              <a:ext uri="{FF2B5EF4-FFF2-40B4-BE49-F238E27FC236}">
                <a16:creationId xmlns:a16="http://schemas.microsoft.com/office/drawing/2014/main" id="{8EAF19A6-3A9B-230D-11B9-DD03C81C6DC8}"/>
              </a:ext>
            </a:extLst>
          </p:cNvPr>
          <p:cNvGrpSpPr/>
          <p:nvPr/>
        </p:nvGrpSpPr>
        <p:grpSpPr>
          <a:xfrm>
            <a:off x="3942334" y="5221468"/>
            <a:ext cx="552240" cy="1016004"/>
            <a:chOff x="2956672" y="1384595"/>
            <a:chExt cx="690300" cy="1270005"/>
          </a:xfrm>
        </p:grpSpPr>
        <p:sp>
          <p:nvSpPr>
            <p:cNvPr id="18" name="Google Shape;228;p22">
              <a:extLst>
                <a:ext uri="{FF2B5EF4-FFF2-40B4-BE49-F238E27FC236}">
                  <a16:creationId xmlns:a16="http://schemas.microsoft.com/office/drawing/2014/main" id="{EB4AA7DF-D473-B070-742B-1FF8A89D266E}"/>
                </a:ext>
              </a:extLst>
            </p:cNvPr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29;p22">
              <a:extLst>
                <a:ext uri="{FF2B5EF4-FFF2-40B4-BE49-F238E27FC236}">
                  <a16:creationId xmlns:a16="http://schemas.microsoft.com/office/drawing/2014/main" id="{E2628713-7863-1018-C543-95F187E5AB2F}"/>
                </a:ext>
              </a:extLst>
            </p:cNvPr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30;p22">
              <a:extLst>
                <a:ext uri="{FF2B5EF4-FFF2-40B4-BE49-F238E27FC236}">
                  <a16:creationId xmlns:a16="http://schemas.microsoft.com/office/drawing/2014/main" id="{0FBEDAEA-ED08-5022-7F08-54087E381560}"/>
                </a:ext>
              </a:extLst>
            </p:cNvPr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31;p22">
              <a:extLst>
                <a:ext uri="{FF2B5EF4-FFF2-40B4-BE49-F238E27FC236}">
                  <a16:creationId xmlns:a16="http://schemas.microsoft.com/office/drawing/2014/main" id="{BA559E29-AB99-F4B7-D918-B643D21B62FE}"/>
                </a:ext>
              </a:extLst>
            </p:cNvPr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32;p22">
              <a:extLst>
                <a:ext uri="{FF2B5EF4-FFF2-40B4-BE49-F238E27FC236}">
                  <a16:creationId xmlns:a16="http://schemas.microsoft.com/office/drawing/2014/main" id="{6AD95966-8614-9AC6-BE50-56C73ED51188}"/>
                </a:ext>
              </a:extLst>
            </p:cNvPr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3;p22">
              <a:extLst>
                <a:ext uri="{FF2B5EF4-FFF2-40B4-BE49-F238E27FC236}">
                  <a16:creationId xmlns:a16="http://schemas.microsoft.com/office/drawing/2014/main" id="{04754B14-15D6-2C8F-1545-0FA2671F1929}"/>
                </a:ext>
              </a:extLst>
            </p:cNvPr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34;p22">
              <a:extLst>
                <a:ext uri="{FF2B5EF4-FFF2-40B4-BE49-F238E27FC236}">
                  <a16:creationId xmlns:a16="http://schemas.microsoft.com/office/drawing/2014/main" id="{CCB69CB6-54CE-9D10-08BA-D7F86F50FBBA}"/>
                </a:ext>
              </a:extLst>
            </p:cNvPr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35;p22">
              <a:extLst>
                <a:ext uri="{FF2B5EF4-FFF2-40B4-BE49-F238E27FC236}">
                  <a16:creationId xmlns:a16="http://schemas.microsoft.com/office/drawing/2014/main" id="{7948A19D-BDF2-2CD7-3F68-21777183A19C}"/>
                </a:ext>
              </a:extLst>
            </p:cNvPr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393;p24">
            <a:extLst>
              <a:ext uri="{FF2B5EF4-FFF2-40B4-BE49-F238E27FC236}">
                <a16:creationId xmlns:a16="http://schemas.microsoft.com/office/drawing/2014/main" id="{08EB9789-98D5-D6DD-5EB8-122659CB2596}"/>
              </a:ext>
            </a:extLst>
          </p:cNvPr>
          <p:cNvSpPr txBox="1"/>
          <p:nvPr/>
        </p:nvSpPr>
        <p:spPr>
          <a:xfrm>
            <a:off x="3403308" y="6348272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製造会社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92;p22">
            <a:extLst>
              <a:ext uri="{FF2B5EF4-FFF2-40B4-BE49-F238E27FC236}">
                <a16:creationId xmlns:a16="http://schemas.microsoft.com/office/drawing/2014/main" id="{8B48A1D6-3C5D-6BAE-1E5E-376EA7222FC2}"/>
              </a:ext>
            </a:extLst>
          </p:cNvPr>
          <p:cNvSpPr/>
          <p:nvPr/>
        </p:nvSpPr>
        <p:spPr>
          <a:xfrm>
            <a:off x="4883739" y="2517215"/>
            <a:ext cx="213600" cy="219600"/>
          </a:xfrm>
          <a:prstGeom prst="ellipse">
            <a:avLst/>
          </a:prstGeom>
          <a:solidFill>
            <a:srgbClr val="D4FCA9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3400"/>
            </a:pPr>
            <a:endParaRPr sz="27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41;p22">
            <a:extLst>
              <a:ext uri="{FF2B5EF4-FFF2-40B4-BE49-F238E27FC236}">
                <a16:creationId xmlns:a16="http://schemas.microsoft.com/office/drawing/2014/main" id="{83E8E43A-4CB3-BF78-EA9B-329927396F33}"/>
              </a:ext>
            </a:extLst>
          </p:cNvPr>
          <p:cNvSpPr/>
          <p:nvPr/>
        </p:nvSpPr>
        <p:spPr>
          <a:xfrm>
            <a:off x="4133435" y="4619341"/>
            <a:ext cx="213600" cy="219600"/>
          </a:xfrm>
          <a:prstGeom prst="ellipse">
            <a:avLst/>
          </a:prstGeom>
          <a:solidFill>
            <a:srgbClr val="D4FCA9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3400"/>
            </a:pPr>
            <a:endParaRPr sz="27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455;p24">
            <a:extLst>
              <a:ext uri="{FF2B5EF4-FFF2-40B4-BE49-F238E27FC236}">
                <a16:creationId xmlns:a16="http://schemas.microsoft.com/office/drawing/2014/main" id="{5CF4210B-DEBD-D02A-8E7E-7EBF2199B7D2}"/>
              </a:ext>
            </a:extLst>
          </p:cNvPr>
          <p:cNvSpPr txBox="1"/>
          <p:nvPr/>
        </p:nvSpPr>
        <p:spPr>
          <a:xfrm>
            <a:off x="4388237" y="4649599"/>
            <a:ext cx="384111" cy="189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製品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430;p24">
            <a:extLst>
              <a:ext uri="{FF2B5EF4-FFF2-40B4-BE49-F238E27FC236}">
                <a16:creationId xmlns:a16="http://schemas.microsoft.com/office/drawing/2014/main" id="{A0BBFCF7-6E92-4E44-7336-C59428383960}"/>
              </a:ext>
            </a:extLst>
          </p:cNvPr>
          <p:cNvCxnSpPr>
            <a:cxnSpLocks/>
          </p:cNvCxnSpPr>
          <p:nvPr/>
        </p:nvCxnSpPr>
        <p:spPr>
          <a:xfrm>
            <a:off x="4656663" y="5538805"/>
            <a:ext cx="88728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37" name="Google Shape;431;p24">
            <a:extLst>
              <a:ext uri="{FF2B5EF4-FFF2-40B4-BE49-F238E27FC236}">
                <a16:creationId xmlns:a16="http://schemas.microsoft.com/office/drawing/2014/main" id="{C8245F1E-ED3D-2DF3-56CD-08BC634670EB}"/>
              </a:ext>
            </a:extLst>
          </p:cNvPr>
          <p:cNvSpPr/>
          <p:nvPr/>
        </p:nvSpPr>
        <p:spPr>
          <a:xfrm>
            <a:off x="5053846" y="5437054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57;p24">
            <a:extLst>
              <a:ext uri="{FF2B5EF4-FFF2-40B4-BE49-F238E27FC236}">
                <a16:creationId xmlns:a16="http://schemas.microsoft.com/office/drawing/2014/main" id="{6508BBDE-3649-2D70-F1C3-B34DC9861469}"/>
              </a:ext>
            </a:extLst>
          </p:cNvPr>
          <p:cNvSpPr/>
          <p:nvPr/>
        </p:nvSpPr>
        <p:spPr>
          <a:xfrm>
            <a:off x="7119494" y="4608482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432;p24">
            <a:extLst>
              <a:ext uri="{FF2B5EF4-FFF2-40B4-BE49-F238E27FC236}">
                <a16:creationId xmlns:a16="http://schemas.microsoft.com/office/drawing/2014/main" id="{192F75CF-0D3F-FA87-5AED-20D35962FCC4}"/>
              </a:ext>
            </a:extLst>
          </p:cNvPr>
          <p:cNvSpPr txBox="1"/>
          <p:nvPr/>
        </p:nvSpPr>
        <p:spPr>
          <a:xfrm>
            <a:off x="4863650" y="5243135"/>
            <a:ext cx="571200" cy="189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-JP" altLang="en-US" sz="1440" dirty="0"/>
              <a:t>製造費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393;p24">
            <a:extLst>
              <a:ext uri="{FF2B5EF4-FFF2-40B4-BE49-F238E27FC236}">
                <a16:creationId xmlns:a16="http://schemas.microsoft.com/office/drawing/2014/main" id="{1299E203-F993-34F2-CD36-A3B81AFB5A40}"/>
              </a:ext>
            </a:extLst>
          </p:cNvPr>
          <p:cNvSpPr txBox="1"/>
          <p:nvPr/>
        </p:nvSpPr>
        <p:spPr>
          <a:xfrm>
            <a:off x="5274744" y="6326809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運営会社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377;p24">
            <a:extLst>
              <a:ext uri="{FF2B5EF4-FFF2-40B4-BE49-F238E27FC236}">
                <a16:creationId xmlns:a16="http://schemas.microsoft.com/office/drawing/2014/main" id="{ACD1B4B4-0380-33F0-8D7C-9EABBA0E4739}"/>
              </a:ext>
            </a:extLst>
          </p:cNvPr>
          <p:cNvGrpSpPr/>
          <p:nvPr/>
        </p:nvGrpSpPr>
        <p:grpSpPr>
          <a:xfrm>
            <a:off x="7744448" y="1028259"/>
            <a:ext cx="552240" cy="1016004"/>
            <a:chOff x="2956672" y="1384595"/>
            <a:chExt cx="690300" cy="1270005"/>
          </a:xfrm>
        </p:grpSpPr>
        <p:sp>
          <p:nvSpPr>
            <p:cNvPr id="62" name="Google Shape;378;p24">
              <a:extLst>
                <a:ext uri="{FF2B5EF4-FFF2-40B4-BE49-F238E27FC236}">
                  <a16:creationId xmlns:a16="http://schemas.microsoft.com/office/drawing/2014/main" id="{3A37692D-FBA7-C248-75E4-8DA092C25702}"/>
                </a:ext>
              </a:extLst>
            </p:cNvPr>
            <p:cNvSpPr/>
            <p:nvPr/>
          </p:nvSpPr>
          <p:spPr>
            <a:xfrm>
              <a:off x="2956672" y="1384595"/>
              <a:ext cx="690300" cy="12645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379;p24">
              <a:extLst>
                <a:ext uri="{FF2B5EF4-FFF2-40B4-BE49-F238E27FC236}">
                  <a16:creationId xmlns:a16="http://schemas.microsoft.com/office/drawing/2014/main" id="{BB99289C-98D4-CB56-9414-273D2B63B04C}"/>
                </a:ext>
              </a:extLst>
            </p:cNvPr>
            <p:cNvSpPr/>
            <p:nvPr/>
          </p:nvSpPr>
          <p:spPr>
            <a:xfrm>
              <a:off x="3074025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380;p24">
              <a:extLst>
                <a:ext uri="{FF2B5EF4-FFF2-40B4-BE49-F238E27FC236}">
                  <a16:creationId xmlns:a16="http://schemas.microsoft.com/office/drawing/2014/main" id="{CB84F432-F38E-235C-0A30-E2CE96167B7E}"/>
                </a:ext>
              </a:extLst>
            </p:cNvPr>
            <p:cNvSpPr/>
            <p:nvPr/>
          </p:nvSpPr>
          <p:spPr>
            <a:xfrm>
              <a:off x="3347800" y="1509800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381;p24">
              <a:extLst>
                <a:ext uri="{FF2B5EF4-FFF2-40B4-BE49-F238E27FC236}">
                  <a16:creationId xmlns:a16="http://schemas.microsoft.com/office/drawing/2014/main" id="{BD86ECE5-6EB5-1D57-A822-7A4C104B879F}"/>
                </a:ext>
              </a:extLst>
            </p:cNvPr>
            <p:cNvSpPr/>
            <p:nvPr/>
          </p:nvSpPr>
          <p:spPr>
            <a:xfrm>
              <a:off x="3074025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382;p24">
              <a:extLst>
                <a:ext uri="{FF2B5EF4-FFF2-40B4-BE49-F238E27FC236}">
                  <a16:creationId xmlns:a16="http://schemas.microsoft.com/office/drawing/2014/main" id="{39ED9600-671D-569D-B01F-6FE852ACA4C3}"/>
                </a:ext>
              </a:extLst>
            </p:cNvPr>
            <p:cNvSpPr/>
            <p:nvPr/>
          </p:nvSpPr>
          <p:spPr>
            <a:xfrm>
              <a:off x="3347800" y="1796002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383;p24">
              <a:extLst>
                <a:ext uri="{FF2B5EF4-FFF2-40B4-BE49-F238E27FC236}">
                  <a16:creationId xmlns:a16="http://schemas.microsoft.com/office/drawing/2014/main" id="{87D39A49-A254-A03B-08DE-BA753A75A464}"/>
                </a:ext>
              </a:extLst>
            </p:cNvPr>
            <p:cNvSpPr/>
            <p:nvPr/>
          </p:nvSpPr>
          <p:spPr>
            <a:xfrm>
              <a:off x="3074025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384;p24">
              <a:extLst>
                <a:ext uri="{FF2B5EF4-FFF2-40B4-BE49-F238E27FC236}">
                  <a16:creationId xmlns:a16="http://schemas.microsoft.com/office/drawing/2014/main" id="{94B5F3AF-6C8C-4E80-8BDB-4BC2ABB75FB5}"/>
                </a:ext>
              </a:extLst>
            </p:cNvPr>
            <p:cNvSpPr/>
            <p:nvPr/>
          </p:nvSpPr>
          <p:spPr>
            <a:xfrm>
              <a:off x="3347800" y="2082204"/>
              <a:ext cx="181800" cy="1872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385;p24">
              <a:extLst>
                <a:ext uri="{FF2B5EF4-FFF2-40B4-BE49-F238E27FC236}">
                  <a16:creationId xmlns:a16="http://schemas.microsoft.com/office/drawing/2014/main" id="{838E5BE9-A07A-2A7C-B197-B265967D3F48}"/>
                </a:ext>
              </a:extLst>
            </p:cNvPr>
            <p:cNvSpPr/>
            <p:nvPr/>
          </p:nvSpPr>
          <p:spPr>
            <a:xfrm>
              <a:off x="3130500" y="2419100"/>
              <a:ext cx="345300" cy="23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lnSpc>
                  <a:spcPct val="50000"/>
                </a:lnSpc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393;p24">
            <a:extLst>
              <a:ext uri="{FF2B5EF4-FFF2-40B4-BE49-F238E27FC236}">
                <a16:creationId xmlns:a16="http://schemas.microsoft.com/office/drawing/2014/main" id="{246F4BC9-BD42-A7F3-AD67-D03B35A8F47E}"/>
              </a:ext>
            </a:extLst>
          </p:cNvPr>
          <p:cNvSpPr txBox="1"/>
          <p:nvPr/>
        </p:nvSpPr>
        <p:spPr>
          <a:xfrm>
            <a:off x="7218494" y="2106374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食品メーカー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1" name="Google Shape;258;p22">
            <a:extLst>
              <a:ext uri="{FF2B5EF4-FFF2-40B4-BE49-F238E27FC236}">
                <a16:creationId xmlns:a16="http://schemas.microsoft.com/office/drawing/2014/main" id="{CB221862-717D-8F48-3A48-EB91B50DC6FF}"/>
              </a:ext>
            </a:extLst>
          </p:cNvPr>
          <p:cNvGrpSpPr/>
          <p:nvPr/>
        </p:nvGrpSpPr>
        <p:grpSpPr>
          <a:xfrm>
            <a:off x="7774705" y="3130210"/>
            <a:ext cx="565291" cy="1018127"/>
            <a:chOff x="0" y="0"/>
            <a:chExt cx="1893900" cy="3411039"/>
          </a:xfrm>
        </p:grpSpPr>
        <p:sp>
          <p:nvSpPr>
            <p:cNvPr id="482" name="Google Shape;259;p22">
              <a:extLst>
                <a:ext uri="{FF2B5EF4-FFF2-40B4-BE49-F238E27FC236}">
                  <a16:creationId xmlns:a16="http://schemas.microsoft.com/office/drawing/2014/main" id="{D1802807-8485-B65A-97F2-82F16FBF0840}"/>
                </a:ext>
              </a:extLst>
            </p:cNvPr>
            <p:cNvSpPr/>
            <p:nvPr/>
          </p:nvSpPr>
          <p:spPr>
            <a:xfrm>
              <a:off x="0" y="38439"/>
              <a:ext cx="1893900" cy="3372600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81280" tIns="81280" rIns="81280" bIns="81280" anchor="ctr" anchorCtr="0">
              <a:noAutofit/>
            </a:bodyPr>
            <a:lstStyle/>
            <a:p>
              <a:pPr>
                <a:lnSpc>
                  <a:spcPct val="50000"/>
                </a:lnSpc>
              </a:pPr>
              <a:endParaRPr sz="11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260;p22">
              <a:extLst>
                <a:ext uri="{FF2B5EF4-FFF2-40B4-BE49-F238E27FC236}">
                  <a16:creationId xmlns:a16="http://schemas.microsoft.com/office/drawing/2014/main" id="{C7384393-799A-2E7E-AD5F-DAD3A2882ABC}"/>
                </a:ext>
              </a:extLst>
            </p:cNvPr>
            <p:cNvSpPr/>
            <p:nvPr/>
          </p:nvSpPr>
          <p:spPr>
            <a:xfrm>
              <a:off x="0" y="38439"/>
              <a:ext cx="1893900" cy="9240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81280" tIns="81280" rIns="81280" bIns="81280" anchor="ctr" anchorCtr="0">
              <a:noAutofit/>
            </a:bodyPr>
            <a:lstStyle/>
            <a:p>
              <a:pPr>
                <a:lnSpc>
                  <a:spcPct val="50000"/>
                </a:lnSpc>
              </a:pPr>
              <a:endParaRPr sz="11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261;p22">
              <a:extLst>
                <a:ext uri="{FF2B5EF4-FFF2-40B4-BE49-F238E27FC236}">
                  <a16:creationId xmlns:a16="http://schemas.microsoft.com/office/drawing/2014/main" id="{2DFD6A14-D27D-6FFF-E2FB-E158CC7EDD88}"/>
                </a:ext>
              </a:extLst>
            </p:cNvPr>
            <p:cNvSpPr/>
            <p:nvPr/>
          </p:nvSpPr>
          <p:spPr>
            <a:xfrm>
              <a:off x="549764" y="2509440"/>
              <a:ext cx="794400" cy="895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81280" tIns="81280" rIns="81280" bIns="81280" anchor="ctr" anchorCtr="0">
              <a:noAutofit/>
            </a:bodyPr>
            <a:lstStyle/>
            <a:p>
              <a:pPr>
                <a:lnSpc>
                  <a:spcPct val="50000"/>
                </a:lnSpc>
              </a:pPr>
              <a:endParaRPr sz="11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262;p22">
              <a:extLst>
                <a:ext uri="{FF2B5EF4-FFF2-40B4-BE49-F238E27FC236}">
                  <a16:creationId xmlns:a16="http://schemas.microsoft.com/office/drawing/2014/main" id="{321398B5-1095-39BF-E093-3AD432FA35C8}"/>
                </a:ext>
              </a:extLst>
            </p:cNvPr>
            <p:cNvCxnSpPr/>
            <p:nvPr/>
          </p:nvCxnSpPr>
          <p:spPr>
            <a:xfrm>
              <a:off x="495285" y="0"/>
              <a:ext cx="0" cy="984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486" name="Google Shape;263;p22">
              <a:extLst>
                <a:ext uri="{FF2B5EF4-FFF2-40B4-BE49-F238E27FC236}">
                  <a16:creationId xmlns:a16="http://schemas.microsoft.com/office/drawing/2014/main" id="{6DE0A7FD-45D4-2937-D5B4-9721A25FC3E4}"/>
                </a:ext>
              </a:extLst>
            </p:cNvPr>
            <p:cNvCxnSpPr/>
            <p:nvPr/>
          </p:nvCxnSpPr>
          <p:spPr>
            <a:xfrm>
              <a:off x="951671" y="0"/>
              <a:ext cx="0" cy="984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487" name="Google Shape;264;p22">
              <a:extLst>
                <a:ext uri="{FF2B5EF4-FFF2-40B4-BE49-F238E27FC236}">
                  <a16:creationId xmlns:a16="http://schemas.microsoft.com/office/drawing/2014/main" id="{E35DBBEB-5ECE-7A31-C4B2-DDAC5E314348}"/>
                </a:ext>
              </a:extLst>
            </p:cNvPr>
            <p:cNvCxnSpPr/>
            <p:nvPr/>
          </p:nvCxnSpPr>
          <p:spPr>
            <a:xfrm>
              <a:off x="1396171" y="0"/>
              <a:ext cx="0" cy="984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488" name="Google Shape;399;p24">
            <a:extLst>
              <a:ext uri="{FF2B5EF4-FFF2-40B4-BE49-F238E27FC236}">
                <a16:creationId xmlns:a16="http://schemas.microsoft.com/office/drawing/2014/main" id="{B83DF675-5CF8-4EA2-1A23-163F0458C8C1}"/>
              </a:ext>
            </a:extLst>
          </p:cNvPr>
          <p:cNvSpPr txBox="1"/>
          <p:nvPr/>
        </p:nvSpPr>
        <p:spPr>
          <a:xfrm>
            <a:off x="7272587" y="4233998"/>
            <a:ext cx="1602918" cy="30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スーパー</a:t>
            </a:r>
            <a:endParaRPr lang="en-US" altLang="ja-JP" sz="144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小売店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390;p24">
            <a:extLst>
              <a:ext uri="{FF2B5EF4-FFF2-40B4-BE49-F238E27FC236}">
                <a16:creationId xmlns:a16="http://schemas.microsoft.com/office/drawing/2014/main" id="{F43E1472-FEC7-1A4A-9D37-1B7F85CDB8D7}"/>
              </a:ext>
            </a:extLst>
          </p:cNvPr>
          <p:cNvGrpSpPr/>
          <p:nvPr/>
        </p:nvGrpSpPr>
        <p:grpSpPr>
          <a:xfrm>
            <a:off x="4028003" y="1071868"/>
            <a:ext cx="552289" cy="1022489"/>
            <a:chOff x="-1" y="0"/>
            <a:chExt cx="946737" cy="1704148"/>
          </a:xfrm>
        </p:grpSpPr>
        <p:sp>
          <p:nvSpPr>
            <p:cNvPr id="490" name="Google Shape;391;p24">
              <a:extLst>
                <a:ext uri="{FF2B5EF4-FFF2-40B4-BE49-F238E27FC236}">
                  <a16:creationId xmlns:a16="http://schemas.microsoft.com/office/drawing/2014/main" id="{7A081EF4-60DB-536A-9671-9FA1BE5AE43A}"/>
                </a:ext>
              </a:extLst>
            </p:cNvPr>
            <p:cNvSpPr/>
            <p:nvPr/>
          </p:nvSpPr>
          <p:spPr>
            <a:xfrm>
              <a:off x="-1" y="707200"/>
              <a:ext cx="946737" cy="996948"/>
            </a:xfrm>
            <a:custGeom>
              <a:avLst/>
              <a:gdLst/>
              <a:ahLst/>
              <a:cxnLst/>
              <a:rect l="l" t="t" r="r" b="b"/>
              <a:pathLst>
                <a:path w="19735" h="21600" extrusionOk="0">
                  <a:moveTo>
                    <a:pt x="41" y="21600"/>
                  </a:moveTo>
                  <a:lnTo>
                    <a:pt x="19726" y="21600"/>
                  </a:lnTo>
                  <a:cubicBezTo>
                    <a:pt x="19726" y="21600"/>
                    <a:pt x="20425" y="0"/>
                    <a:pt x="9625" y="0"/>
                  </a:cubicBezTo>
                  <a:cubicBezTo>
                    <a:pt x="-1175" y="0"/>
                    <a:pt x="41" y="21600"/>
                    <a:pt x="41" y="21600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392;p24">
              <a:extLst>
                <a:ext uri="{FF2B5EF4-FFF2-40B4-BE49-F238E27FC236}">
                  <a16:creationId xmlns:a16="http://schemas.microsoft.com/office/drawing/2014/main" id="{83D7D8C8-2D0C-F6DD-6337-AEC01F429671}"/>
                </a:ext>
              </a:extLst>
            </p:cNvPr>
            <p:cNvSpPr/>
            <p:nvPr/>
          </p:nvSpPr>
          <p:spPr>
            <a:xfrm>
              <a:off x="38013" y="0"/>
              <a:ext cx="855900" cy="854700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28920" tIns="28920" rIns="28920" bIns="2892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3400"/>
              </a:pPr>
              <a:endParaRPr sz="27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393;p24">
            <a:extLst>
              <a:ext uri="{FF2B5EF4-FFF2-40B4-BE49-F238E27FC236}">
                <a16:creationId xmlns:a16="http://schemas.microsoft.com/office/drawing/2014/main" id="{60EA02EB-4BC7-C4EF-7512-4BE7B09A6314}"/>
              </a:ext>
            </a:extLst>
          </p:cNvPr>
          <p:cNvSpPr txBox="1"/>
          <p:nvPr/>
        </p:nvSpPr>
        <p:spPr>
          <a:xfrm>
            <a:off x="3481879" y="2197610"/>
            <a:ext cx="16356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ユーザー</a:t>
            </a:r>
            <a:endParaRPr lang="en-US" altLang="ja-JP" sz="1440" b="1" dirty="0"/>
          </a:p>
          <a:p>
            <a:pPr algn="ctr">
              <a:buClr>
                <a:srgbClr val="000000"/>
              </a:buClr>
              <a:buSzPts val="1800"/>
            </a:pPr>
            <a:r>
              <a:rPr lang="ja-JP" altLang="en-US" sz="1440" b="1" dirty="0"/>
              <a:t>との関係者</a:t>
            </a:r>
            <a:endParaRPr sz="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386;p24">
            <a:extLst>
              <a:ext uri="{FF2B5EF4-FFF2-40B4-BE49-F238E27FC236}">
                <a16:creationId xmlns:a16="http://schemas.microsoft.com/office/drawing/2014/main" id="{19DB8667-2D76-BDDD-7088-DB4823BC20C1}"/>
              </a:ext>
            </a:extLst>
          </p:cNvPr>
          <p:cNvCxnSpPr>
            <a:cxnSpLocks/>
          </p:cNvCxnSpPr>
          <p:nvPr/>
        </p:nvCxnSpPr>
        <p:spPr>
          <a:xfrm flipV="1">
            <a:off x="8046720" y="2441450"/>
            <a:ext cx="0" cy="61723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oval" w="lg" len="lg"/>
          </a:ln>
        </p:spPr>
      </p:cxnSp>
      <p:cxnSp>
        <p:nvCxnSpPr>
          <p:cNvPr id="497" name="Google Shape;430;p24">
            <a:extLst>
              <a:ext uri="{FF2B5EF4-FFF2-40B4-BE49-F238E27FC236}">
                <a16:creationId xmlns:a16="http://schemas.microsoft.com/office/drawing/2014/main" id="{F762CEEA-3965-77AD-3CE3-E1058BD6889C}"/>
              </a:ext>
            </a:extLst>
          </p:cNvPr>
          <p:cNvCxnSpPr>
            <a:cxnSpLocks/>
          </p:cNvCxnSpPr>
          <p:nvPr/>
        </p:nvCxnSpPr>
        <p:spPr>
          <a:xfrm flipV="1">
            <a:off x="6730564" y="2442335"/>
            <a:ext cx="601661" cy="58184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500" name="Google Shape;457;p24">
            <a:extLst>
              <a:ext uri="{FF2B5EF4-FFF2-40B4-BE49-F238E27FC236}">
                <a16:creationId xmlns:a16="http://schemas.microsoft.com/office/drawing/2014/main" id="{2E9FCB78-D685-CD48-BA36-5E7FA88506C3}"/>
              </a:ext>
            </a:extLst>
          </p:cNvPr>
          <p:cNvSpPr/>
          <p:nvPr/>
        </p:nvSpPr>
        <p:spPr>
          <a:xfrm>
            <a:off x="6980398" y="2574210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100;p21">
            <a:extLst>
              <a:ext uri="{FF2B5EF4-FFF2-40B4-BE49-F238E27FC236}">
                <a16:creationId xmlns:a16="http://schemas.microsoft.com/office/drawing/2014/main" id="{D5E0BE14-765C-CB92-3E89-769F705F5132}"/>
              </a:ext>
            </a:extLst>
          </p:cNvPr>
          <p:cNvSpPr/>
          <p:nvPr/>
        </p:nvSpPr>
        <p:spPr>
          <a:xfrm>
            <a:off x="6843447" y="2822707"/>
            <a:ext cx="700707" cy="797474"/>
          </a:xfrm>
          <a:custGeom>
            <a:avLst/>
            <a:gdLst>
              <a:gd name="csX0" fmla="*/ 0 w 875884"/>
              <a:gd name="csY0" fmla="*/ 0 h 639853"/>
              <a:gd name="csX1" fmla="*/ 0 w 875884"/>
              <a:gd name="csY1" fmla="*/ 0 h 639853"/>
              <a:gd name="csX2" fmla="*/ 510932 w 875884"/>
              <a:gd name="csY2" fmla="*/ 0 h 639853"/>
              <a:gd name="csX3" fmla="*/ 510932 w 875884"/>
              <a:gd name="csY3" fmla="*/ 0 h 639853"/>
              <a:gd name="csX4" fmla="*/ 729903 w 875884"/>
              <a:gd name="csY4" fmla="*/ 0 h 639853"/>
              <a:gd name="csX5" fmla="*/ 875884 w 875884"/>
              <a:gd name="csY5" fmla="*/ 0 h 639853"/>
              <a:gd name="csX6" fmla="*/ 875884 w 875884"/>
              <a:gd name="csY6" fmla="*/ 0 h 639853"/>
              <a:gd name="csX7" fmla="*/ 875884 w 875884"/>
              <a:gd name="csY7" fmla="*/ 373248 h 639853"/>
              <a:gd name="csX8" fmla="*/ 875884 w 875884"/>
              <a:gd name="csY8" fmla="*/ 373248 h 639853"/>
              <a:gd name="csX9" fmla="*/ 875884 w 875884"/>
              <a:gd name="csY9" fmla="*/ 533211 h 639853"/>
              <a:gd name="csX10" fmla="*/ 875884 w 875884"/>
              <a:gd name="csY10" fmla="*/ 639853 h 639853"/>
              <a:gd name="csX11" fmla="*/ 875884 w 875884"/>
              <a:gd name="csY11" fmla="*/ 639853 h 639853"/>
              <a:gd name="csX12" fmla="*/ 729903 w 875884"/>
              <a:gd name="csY12" fmla="*/ 639853 h 639853"/>
              <a:gd name="csX13" fmla="*/ 542645 w 875884"/>
              <a:gd name="csY13" fmla="*/ 822672 h 639853"/>
              <a:gd name="csX14" fmla="*/ 510932 w 875884"/>
              <a:gd name="csY14" fmla="*/ 639853 h 639853"/>
              <a:gd name="csX15" fmla="*/ 0 w 875884"/>
              <a:gd name="csY15" fmla="*/ 639853 h 639853"/>
              <a:gd name="csX16" fmla="*/ 0 w 875884"/>
              <a:gd name="csY16" fmla="*/ 639853 h 639853"/>
              <a:gd name="csX17" fmla="*/ 0 w 875884"/>
              <a:gd name="csY17" fmla="*/ 533211 h 639853"/>
              <a:gd name="csX18" fmla="*/ 0 w 875884"/>
              <a:gd name="csY18" fmla="*/ 373248 h 639853"/>
              <a:gd name="csX19" fmla="*/ 0 w 875884"/>
              <a:gd name="csY19" fmla="*/ 373248 h 639853"/>
              <a:gd name="csX20" fmla="*/ 0 w 875884"/>
              <a:gd name="csY20" fmla="*/ 0 h 639853"/>
              <a:gd name="csX0" fmla="*/ 0 w 875884"/>
              <a:gd name="csY0" fmla="*/ 174171 h 996843"/>
              <a:gd name="csX1" fmla="*/ 0 w 875884"/>
              <a:gd name="csY1" fmla="*/ 174171 h 996843"/>
              <a:gd name="csX2" fmla="*/ 510932 w 875884"/>
              <a:gd name="csY2" fmla="*/ 174171 h 996843"/>
              <a:gd name="csX3" fmla="*/ 576246 w 875884"/>
              <a:gd name="csY3" fmla="*/ 0 h 996843"/>
              <a:gd name="csX4" fmla="*/ 729903 w 875884"/>
              <a:gd name="csY4" fmla="*/ 174171 h 996843"/>
              <a:gd name="csX5" fmla="*/ 875884 w 875884"/>
              <a:gd name="csY5" fmla="*/ 174171 h 996843"/>
              <a:gd name="csX6" fmla="*/ 875884 w 875884"/>
              <a:gd name="csY6" fmla="*/ 174171 h 996843"/>
              <a:gd name="csX7" fmla="*/ 875884 w 875884"/>
              <a:gd name="csY7" fmla="*/ 547419 h 996843"/>
              <a:gd name="csX8" fmla="*/ 875884 w 875884"/>
              <a:gd name="csY8" fmla="*/ 547419 h 996843"/>
              <a:gd name="csX9" fmla="*/ 875884 w 875884"/>
              <a:gd name="csY9" fmla="*/ 707382 h 996843"/>
              <a:gd name="csX10" fmla="*/ 875884 w 875884"/>
              <a:gd name="csY10" fmla="*/ 814024 h 996843"/>
              <a:gd name="csX11" fmla="*/ 875884 w 875884"/>
              <a:gd name="csY11" fmla="*/ 814024 h 996843"/>
              <a:gd name="csX12" fmla="*/ 729903 w 875884"/>
              <a:gd name="csY12" fmla="*/ 814024 h 996843"/>
              <a:gd name="csX13" fmla="*/ 542645 w 875884"/>
              <a:gd name="csY13" fmla="*/ 996843 h 996843"/>
              <a:gd name="csX14" fmla="*/ 510932 w 875884"/>
              <a:gd name="csY14" fmla="*/ 814024 h 996843"/>
              <a:gd name="csX15" fmla="*/ 0 w 875884"/>
              <a:gd name="csY15" fmla="*/ 814024 h 996843"/>
              <a:gd name="csX16" fmla="*/ 0 w 875884"/>
              <a:gd name="csY16" fmla="*/ 814024 h 996843"/>
              <a:gd name="csX17" fmla="*/ 0 w 875884"/>
              <a:gd name="csY17" fmla="*/ 707382 h 996843"/>
              <a:gd name="csX18" fmla="*/ 0 w 875884"/>
              <a:gd name="csY18" fmla="*/ 547419 h 996843"/>
              <a:gd name="csX19" fmla="*/ 0 w 875884"/>
              <a:gd name="csY19" fmla="*/ 547419 h 996843"/>
              <a:gd name="csX20" fmla="*/ 0 w 875884"/>
              <a:gd name="csY20" fmla="*/ 174171 h 996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875884" h="996843">
                <a:moveTo>
                  <a:pt x="0" y="174171"/>
                </a:moveTo>
                <a:lnTo>
                  <a:pt x="0" y="174171"/>
                </a:lnTo>
                <a:lnTo>
                  <a:pt x="510932" y="174171"/>
                </a:lnTo>
                <a:lnTo>
                  <a:pt x="576246" y="0"/>
                </a:lnTo>
                <a:lnTo>
                  <a:pt x="729903" y="174171"/>
                </a:lnTo>
                <a:lnTo>
                  <a:pt x="875884" y="174171"/>
                </a:lnTo>
                <a:lnTo>
                  <a:pt x="875884" y="174171"/>
                </a:lnTo>
                <a:lnTo>
                  <a:pt x="875884" y="547419"/>
                </a:lnTo>
                <a:lnTo>
                  <a:pt x="875884" y="547419"/>
                </a:lnTo>
                <a:lnTo>
                  <a:pt x="875884" y="707382"/>
                </a:lnTo>
                <a:lnTo>
                  <a:pt x="875884" y="814024"/>
                </a:lnTo>
                <a:lnTo>
                  <a:pt x="875884" y="814024"/>
                </a:lnTo>
                <a:lnTo>
                  <a:pt x="729903" y="814024"/>
                </a:lnTo>
                <a:lnTo>
                  <a:pt x="542645" y="996843"/>
                </a:lnTo>
                <a:lnTo>
                  <a:pt x="510932" y="814024"/>
                </a:lnTo>
                <a:lnTo>
                  <a:pt x="0" y="814024"/>
                </a:lnTo>
                <a:lnTo>
                  <a:pt x="0" y="814024"/>
                </a:lnTo>
                <a:lnTo>
                  <a:pt x="0" y="707382"/>
                </a:lnTo>
                <a:lnTo>
                  <a:pt x="0" y="547419"/>
                </a:lnTo>
                <a:lnTo>
                  <a:pt x="0" y="547419"/>
                </a:lnTo>
                <a:lnTo>
                  <a:pt x="0" y="174171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175;p22">
            <a:extLst>
              <a:ext uri="{FF2B5EF4-FFF2-40B4-BE49-F238E27FC236}">
                <a16:creationId xmlns:a16="http://schemas.microsoft.com/office/drawing/2014/main" id="{979389A8-C3DF-AF25-3C67-B84C57BE12BB}"/>
              </a:ext>
            </a:extLst>
          </p:cNvPr>
          <p:cNvSpPr txBox="1"/>
          <p:nvPr/>
        </p:nvSpPr>
        <p:spPr>
          <a:xfrm>
            <a:off x="6529162" y="3046855"/>
            <a:ext cx="13416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レシピや</a:t>
            </a:r>
            <a:endParaRPr lang="en-US" altLang="ja-JP"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キャンペーン</a:t>
            </a:r>
            <a:endParaRPr lang="en-US" altLang="ja-JP"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/>
              <a:t>新商品情報</a:t>
            </a:r>
            <a:endParaRPr lang="en-US" altLang="ja-JP" sz="800" dirty="0"/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クーポン提供</a:t>
            </a:r>
            <a:endParaRPr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457;p24">
            <a:extLst>
              <a:ext uri="{FF2B5EF4-FFF2-40B4-BE49-F238E27FC236}">
                <a16:creationId xmlns:a16="http://schemas.microsoft.com/office/drawing/2014/main" id="{0C8C9273-856C-4854-FBB3-C36F7E22895D}"/>
              </a:ext>
            </a:extLst>
          </p:cNvPr>
          <p:cNvSpPr/>
          <p:nvPr/>
        </p:nvSpPr>
        <p:spPr>
          <a:xfrm>
            <a:off x="5050249" y="1502319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175;p22">
            <a:extLst>
              <a:ext uri="{FF2B5EF4-FFF2-40B4-BE49-F238E27FC236}">
                <a16:creationId xmlns:a16="http://schemas.microsoft.com/office/drawing/2014/main" id="{A2B4E492-951C-A95F-0D47-7092948F781F}"/>
              </a:ext>
            </a:extLst>
          </p:cNvPr>
          <p:cNvSpPr txBox="1"/>
          <p:nvPr/>
        </p:nvSpPr>
        <p:spPr>
          <a:xfrm>
            <a:off x="4489811" y="554654"/>
            <a:ext cx="13416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ja-JP" altLang="en-US" sz="1440" dirty="0"/>
              <a:t>有料会員で</a:t>
            </a:r>
            <a:endParaRPr lang="en-US" altLang="ja-JP" sz="1440" dirty="0"/>
          </a:p>
          <a:p>
            <a:pPr algn="ctr">
              <a:buClr>
                <a:srgbClr val="000000"/>
              </a:buClr>
              <a:buSzPts val="1000"/>
            </a:pPr>
            <a:r>
              <a:rPr lang="ja-JP" altLang="en-US" sz="1440" dirty="0"/>
              <a:t>ユーザー間で情報を共有可能</a:t>
            </a:r>
            <a:endParaRPr lang="en-US" altLang="ja-JP"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430;p24">
            <a:extLst>
              <a:ext uri="{FF2B5EF4-FFF2-40B4-BE49-F238E27FC236}">
                <a16:creationId xmlns:a16="http://schemas.microsoft.com/office/drawing/2014/main" id="{DB6C679C-76CC-A732-51FA-A4DE7D7DC696}"/>
              </a:ext>
            </a:extLst>
          </p:cNvPr>
          <p:cNvCxnSpPr>
            <a:cxnSpLocks/>
          </p:cNvCxnSpPr>
          <p:nvPr/>
        </p:nvCxnSpPr>
        <p:spPr>
          <a:xfrm flipV="1">
            <a:off x="6637318" y="3684902"/>
            <a:ext cx="970034" cy="6018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333" name="Google Shape;457;p24">
            <a:extLst>
              <a:ext uri="{FF2B5EF4-FFF2-40B4-BE49-F238E27FC236}">
                <a16:creationId xmlns:a16="http://schemas.microsoft.com/office/drawing/2014/main" id="{9A8D5B22-8876-5CFD-A982-088B75DD5BF8}"/>
              </a:ext>
            </a:extLst>
          </p:cNvPr>
          <p:cNvSpPr/>
          <p:nvPr/>
        </p:nvSpPr>
        <p:spPr>
          <a:xfrm>
            <a:off x="6982654" y="3593760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453;p24">
            <a:extLst>
              <a:ext uri="{FF2B5EF4-FFF2-40B4-BE49-F238E27FC236}">
                <a16:creationId xmlns:a16="http://schemas.microsoft.com/office/drawing/2014/main" id="{928A8113-3BAA-45DF-2EDF-A3EFB3C2A308}"/>
              </a:ext>
            </a:extLst>
          </p:cNvPr>
          <p:cNvCxnSpPr>
            <a:cxnSpLocks/>
          </p:cNvCxnSpPr>
          <p:nvPr/>
        </p:nvCxnSpPr>
        <p:spPr>
          <a:xfrm flipH="1">
            <a:off x="4899601" y="2550026"/>
            <a:ext cx="613562" cy="557676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340" name="Google Shape;452;p24">
            <a:extLst>
              <a:ext uri="{FF2B5EF4-FFF2-40B4-BE49-F238E27FC236}">
                <a16:creationId xmlns:a16="http://schemas.microsoft.com/office/drawing/2014/main" id="{19C0D1C8-DE14-2BDF-64FF-91EA737D0A49}"/>
              </a:ext>
            </a:extLst>
          </p:cNvPr>
          <p:cNvSpPr/>
          <p:nvPr/>
        </p:nvSpPr>
        <p:spPr>
          <a:xfrm>
            <a:off x="5130418" y="2725958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457;p24">
            <a:extLst>
              <a:ext uri="{FF2B5EF4-FFF2-40B4-BE49-F238E27FC236}">
                <a16:creationId xmlns:a16="http://schemas.microsoft.com/office/drawing/2014/main" id="{9BC1D0B7-9EB9-BC3C-514C-2B1E28C22959}"/>
              </a:ext>
            </a:extLst>
          </p:cNvPr>
          <p:cNvSpPr/>
          <p:nvPr/>
        </p:nvSpPr>
        <p:spPr>
          <a:xfrm>
            <a:off x="6953425" y="5707678"/>
            <a:ext cx="198000" cy="198000"/>
          </a:xfrm>
          <a:prstGeom prst="rect">
            <a:avLst/>
          </a:prstGeom>
          <a:solidFill>
            <a:srgbClr val="CBECFA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40" tIns="73140" rIns="73140" bIns="7314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1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455;p24">
            <a:extLst>
              <a:ext uri="{FF2B5EF4-FFF2-40B4-BE49-F238E27FC236}">
                <a16:creationId xmlns:a16="http://schemas.microsoft.com/office/drawing/2014/main" id="{4C93751F-3760-40DC-6FAE-4EF9E44F0FCD}"/>
              </a:ext>
            </a:extLst>
          </p:cNvPr>
          <p:cNvSpPr txBox="1"/>
          <p:nvPr/>
        </p:nvSpPr>
        <p:spPr>
          <a:xfrm>
            <a:off x="6814021" y="5930346"/>
            <a:ext cx="577514" cy="1421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430;p24">
            <a:extLst>
              <a:ext uri="{FF2B5EF4-FFF2-40B4-BE49-F238E27FC236}">
                <a16:creationId xmlns:a16="http://schemas.microsoft.com/office/drawing/2014/main" id="{163E8EAF-B5A4-A674-5BCC-41FB53CBCF82}"/>
              </a:ext>
            </a:extLst>
          </p:cNvPr>
          <p:cNvCxnSpPr>
            <a:cxnSpLocks/>
          </p:cNvCxnSpPr>
          <p:nvPr/>
        </p:nvCxnSpPr>
        <p:spPr>
          <a:xfrm flipH="1">
            <a:off x="6554776" y="6169854"/>
            <a:ext cx="920361" cy="1272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400000"/>
            <a:headEnd type="stealth" w="med" len="med"/>
            <a:tailEnd type="none" w="sm" len="sm"/>
          </a:ln>
        </p:spPr>
      </p:cxnSp>
      <p:sp>
        <p:nvSpPr>
          <p:cNvPr id="349" name="Google Shape;458;p24">
            <a:extLst>
              <a:ext uri="{FF2B5EF4-FFF2-40B4-BE49-F238E27FC236}">
                <a16:creationId xmlns:a16="http://schemas.microsoft.com/office/drawing/2014/main" id="{949B2FE4-0223-D0DB-C407-2C3CA968AAEB}"/>
              </a:ext>
            </a:extLst>
          </p:cNvPr>
          <p:cNvSpPr txBox="1"/>
          <p:nvPr/>
        </p:nvSpPr>
        <p:spPr>
          <a:xfrm>
            <a:off x="6614894" y="6312210"/>
            <a:ext cx="1009200" cy="154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データ利用料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431;p24">
            <a:extLst>
              <a:ext uri="{FF2B5EF4-FFF2-40B4-BE49-F238E27FC236}">
                <a16:creationId xmlns:a16="http://schemas.microsoft.com/office/drawing/2014/main" id="{7C19A32C-7585-C21C-9FCE-4D2E5DA416B3}"/>
              </a:ext>
            </a:extLst>
          </p:cNvPr>
          <p:cNvSpPr/>
          <p:nvPr/>
        </p:nvSpPr>
        <p:spPr>
          <a:xfrm>
            <a:off x="6945625" y="6062090"/>
            <a:ext cx="213600" cy="219600"/>
          </a:xfrm>
          <a:prstGeom prst="roundRect">
            <a:avLst>
              <a:gd name="adj" fmla="val 22790"/>
            </a:avLst>
          </a:prstGeom>
          <a:solidFill>
            <a:srgbClr val="FFFC41"/>
          </a:solidFill>
          <a:ln w="28575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r>
              <a:rPr lang="en-US" altLang="j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¥</a:t>
            </a:r>
            <a:endParaRPr sz="96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458;p24">
            <a:extLst>
              <a:ext uri="{FF2B5EF4-FFF2-40B4-BE49-F238E27FC236}">
                <a16:creationId xmlns:a16="http://schemas.microsoft.com/office/drawing/2014/main" id="{760B043C-CB3B-BFD6-5D72-7A9CDC0865CD}"/>
              </a:ext>
            </a:extLst>
          </p:cNvPr>
          <p:cNvSpPr txBox="1"/>
          <p:nvPr/>
        </p:nvSpPr>
        <p:spPr>
          <a:xfrm>
            <a:off x="5080949" y="3071499"/>
            <a:ext cx="697802" cy="142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12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製品購入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455;p24">
            <a:extLst>
              <a:ext uri="{FF2B5EF4-FFF2-40B4-BE49-F238E27FC236}">
                <a16:creationId xmlns:a16="http://schemas.microsoft.com/office/drawing/2014/main" id="{9F68E775-2AAA-96DB-AD40-2AD67FCCE3AB}"/>
              </a:ext>
            </a:extLst>
          </p:cNvPr>
          <p:cNvSpPr txBox="1"/>
          <p:nvPr/>
        </p:nvSpPr>
        <p:spPr>
          <a:xfrm>
            <a:off x="4402792" y="2577803"/>
            <a:ext cx="384111" cy="189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8920" tIns="28920" rIns="28920" bIns="28920" anchor="ctr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ja-JP" altLang="en-US" sz="1440" dirty="0"/>
              <a:t>製品</a:t>
            </a:r>
            <a:endParaRPr sz="112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収納ケースから始まる、食品ロスゼロの暮らしへ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D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FreshBoxは「収納ケース（モノ）」と「食品管理アプリ（サービス）」を組み合わせ、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D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継続利用される食品管理プラットフォームを目指します。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78992" y="35204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/home/claude/pptx_project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442" y="369189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QRコード付き収納ケース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34840" y="324612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4690872" y="35204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/home/claude/pptx_project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22" y="369189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90872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コト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90872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AI食品管理・レシピ提案アプリ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046720" y="3246120"/>
            <a:ext cx="3337560" cy="1965960"/>
          </a:xfrm>
          <a:prstGeom prst="roundRect">
            <a:avLst>
              <a:gd name="adj" fmla="val 5581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8302752" y="352044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/home/claude/pptx_project/icons/y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202" y="369189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02752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D6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302752" y="4663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販売収益＋クーポン掲載料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2296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518</Words>
  <Application>Microsoft Office PowerPoint</Application>
  <PresentationFormat>ワイド画面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弘祥 小川</cp:lastModifiedBy>
  <cp:revision>2</cp:revision>
  <dcterms:created xsi:type="dcterms:W3CDTF">2026-07-13T05:34:02Z</dcterms:created>
  <dcterms:modified xsi:type="dcterms:W3CDTF">2026-07-20T00:27:17Z</dcterms:modified>
</cp:coreProperties>
</file>